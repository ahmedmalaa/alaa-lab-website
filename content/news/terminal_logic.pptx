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62" r:id="rId2"/>
    <p:sldId id="263" r:id="rId3"/>
    <p:sldId id="264" r:id="rId4"/>
    <p:sldId id="265" r:id="rId5"/>
    <p:sldId id="266" r:id="rId6"/>
    <p:sldId id="267" r:id="rId7"/>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ED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624"/>
    <p:restoredTop sz="72940"/>
  </p:normalViewPr>
  <p:slideViewPr>
    <p:cSldViewPr snapToGrid="0">
      <p:cViewPr varScale="1">
        <p:scale>
          <a:sx n="87" d="100"/>
          <a:sy n="87" d="100"/>
        </p:scale>
        <p:origin x="147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8E4AC6-F86D-3C40-92D8-1D0542B171BE}" type="datetimeFigureOut">
              <a:rPr lang="en-US" smtClean="0"/>
              <a:t>7/1/26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AA89E0-8E79-4D48-9709-3B1A56D5AD34}" type="slidenum">
              <a:rPr lang="en-US" smtClean="0"/>
              <a:t>‹#›</a:t>
            </a:fld>
            <a:endParaRPr lang="en-US"/>
          </a:p>
        </p:txBody>
      </p:sp>
    </p:spTree>
    <p:extLst>
      <p:ext uri="{BB962C8B-B14F-4D97-AF65-F5344CB8AC3E}">
        <p14:creationId xmlns:p14="http://schemas.microsoft.com/office/powerpoint/2010/main" val="2681748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675FB-91CD-EC4C-21CB-39ABF8949A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A14C52-62F9-9AD5-E1DF-180C14421E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42AB6E-7A59-878A-82B1-1FB9EE3A2AB7}"/>
              </a:ext>
            </a:extLst>
          </p:cNvPr>
          <p:cNvSpPr>
            <a:spLocks noGrp="1"/>
          </p:cNvSpPr>
          <p:nvPr>
            <p:ph type="body" idx="1"/>
          </p:nvPr>
        </p:nvSpPr>
        <p:spPr/>
        <p:txBody>
          <a:bodyPr/>
          <a:lstStyle/>
          <a:p>
            <a:r>
              <a:rPr lang="en-US" dirty="0"/>
              <a:t>Frontier AI models are increasingly capable of clinical tasks that once demanded purpose-built models and architectures. Our lab studies how to give frontier models the nuanced capabilities they need to operate in real clinical settings, and how to evaluate and monitor their clinical and financial impact in everyday clinical workflows.</a:t>
            </a:r>
          </a:p>
        </p:txBody>
      </p:sp>
      <p:sp>
        <p:nvSpPr>
          <p:cNvPr id="4" name="Slide Number Placeholder 3">
            <a:extLst>
              <a:ext uri="{FF2B5EF4-FFF2-40B4-BE49-F238E27FC236}">
                <a16:creationId xmlns:a16="http://schemas.microsoft.com/office/drawing/2014/main" id="{ACC51610-4933-9BCD-F4EB-66341B5DB6D9}"/>
              </a:ext>
            </a:extLst>
          </p:cNvPr>
          <p:cNvSpPr>
            <a:spLocks noGrp="1"/>
          </p:cNvSpPr>
          <p:nvPr>
            <p:ph type="sldNum" sz="quarter" idx="5"/>
          </p:nvPr>
        </p:nvSpPr>
        <p:spPr/>
        <p:txBody>
          <a:bodyPr/>
          <a:lstStyle/>
          <a:p>
            <a:fld id="{5CAA89E0-8E79-4D48-9709-3B1A56D5AD34}" type="slidenum">
              <a:rPr lang="en-US" smtClean="0"/>
              <a:t>1</a:t>
            </a:fld>
            <a:endParaRPr lang="en-US"/>
          </a:p>
        </p:txBody>
      </p:sp>
    </p:spTree>
    <p:extLst>
      <p:ext uri="{BB962C8B-B14F-4D97-AF65-F5344CB8AC3E}">
        <p14:creationId xmlns:p14="http://schemas.microsoft.com/office/powerpoint/2010/main" val="2898084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A4F47-5E1D-E446-ADF1-D16B295336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21AE02-F9E8-8D32-DEB2-1CD01AA1E3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C4EAEC-BAC4-5357-C90F-B5EFF5DFBCCE}"/>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Real-world clinical involves reasoning through evidence and interventions under uncertainty rather than simply recalling medical knowledge. We build these reasoning capabilities into frontier models through specialized post-training and test-time methods, and through causal and world-model approaches that let models reason about the consequences of clinical decisions.</a:t>
            </a:r>
            <a:endParaRPr lang="en-US" dirty="0"/>
          </a:p>
        </p:txBody>
      </p:sp>
      <p:sp>
        <p:nvSpPr>
          <p:cNvPr id="4" name="Slide Number Placeholder 3">
            <a:extLst>
              <a:ext uri="{FF2B5EF4-FFF2-40B4-BE49-F238E27FC236}">
                <a16:creationId xmlns:a16="http://schemas.microsoft.com/office/drawing/2014/main" id="{AEAAAC3A-84E0-9412-F9DC-D079DB02DABB}"/>
              </a:ext>
            </a:extLst>
          </p:cNvPr>
          <p:cNvSpPr>
            <a:spLocks noGrp="1"/>
          </p:cNvSpPr>
          <p:nvPr>
            <p:ph type="sldNum" sz="quarter" idx="5"/>
          </p:nvPr>
        </p:nvSpPr>
        <p:spPr/>
        <p:txBody>
          <a:bodyPr/>
          <a:lstStyle/>
          <a:p>
            <a:fld id="{5CAA89E0-8E79-4D48-9709-3B1A56D5AD34}" type="slidenum">
              <a:rPr lang="en-US" smtClean="0"/>
              <a:t>2</a:t>
            </a:fld>
            <a:endParaRPr lang="en-US"/>
          </a:p>
        </p:txBody>
      </p:sp>
    </p:spTree>
    <p:extLst>
      <p:ext uri="{BB962C8B-B14F-4D97-AF65-F5344CB8AC3E}">
        <p14:creationId xmlns:p14="http://schemas.microsoft.com/office/powerpoint/2010/main" val="1580712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2D87A-7A72-1EA7-3D98-AB69336DA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24BE4-7329-988A-AF8E-10BED2C8B2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EFF154-1333-AD59-1F9B-77F27650A242}"/>
              </a:ext>
            </a:extLst>
          </p:cNvPr>
          <p:cNvSpPr>
            <a:spLocks noGrp="1"/>
          </p:cNvSpPr>
          <p:nvPr>
            <p:ph type="body" idx="1"/>
          </p:nvPr>
        </p:nvSpPr>
        <p:spPr/>
        <p:txBody>
          <a:bodyPr/>
          <a:lstStyle/>
          <a:p>
            <a:r>
              <a:rPr lang="en-US" b="1" dirty="0"/>
              <a:t>RL from clinician feedback: </a:t>
            </a:r>
            <a:r>
              <a:rPr lang="en-US" dirty="0"/>
              <a:t>We develop methods based reinforcement learning from clinician feedback to align models with expert judgment. Our research in this area focuses on (1) designing verifiable rewards for clinical reasoning that can be evaluated automatically, and (2) developing methods that generates preference data for post-training based on free-text feedback from clinicians.</a:t>
            </a:r>
          </a:p>
          <a:p>
            <a:endParaRPr lang="en-US" dirty="0"/>
          </a:p>
          <a:p>
            <a:r>
              <a:rPr lang="en-US" b="1" dirty="0"/>
              <a:t>Multimodal alignment: </a:t>
            </a:r>
            <a:r>
              <a:rPr lang="en-US" dirty="0"/>
              <a:t>Clinical decisions often require reasoning across modalities; reading an image and a clinical note together, for example. We develop post-training methods that align frontier models across these modalities in order to ground visual and textual signals in a single reasoning process.</a:t>
            </a:r>
          </a:p>
          <a:p>
            <a:endParaRPr lang="en-US" dirty="0"/>
          </a:p>
          <a:p>
            <a:r>
              <a:rPr lang="en-US" b="1" dirty="0"/>
              <a:t>Test-time clinical reasoning: </a:t>
            </a:r>
            <a:r>
              <a:rPr lang="en-US" dirty="0"/>
              <a:t>We study test-time methods that let frontier models reason more carefully about a patient case at inference. Because these gains come at inference, they apply to black-box and proprietary models without retraining or access to model weights.</a:t>
            </a:r>
          </a:p>
          <a:p>
            <a:endParaRPr lang="en-US" dirty="0"/>
          </a:p>
        </p:txBody>
      </p:sp>
      <p:sp>
        <p:nvSpPr>
          <p:cNvPr id="4" name="Slide Number Placeholder 3">
            <a:extLst>
              <a:ext uri="{FF2B5EF4-FFF2-40B4-BE49-F238E27FC236}">
                <a16:creationId xmlns:a16="http://schemas.microsoft.com/office/drawing/2014/main" id="{9AD656AB-441E-9C7B-22CF-A76805C0C29F}"/>
              </a:ext>
            </a:extLst>
          </p:cNvPr>
          <p:cNvSpPr>
            <a:spLocks noGrp="1"/>
          </p:cNvSpPr>
          <p:nvPr>
            <p:ph type="sldNum" sz="quarter" idx="5"/>
          </p:nvPr>
        </p:nvSpPr>
        <p:spPr/>
        <p:txBody>
          <a:bodyPr/>
          <a:lstStyle/>
          <a:p>
            <a:fld id="{5CAA89E0-8E79-4D48-9709-3B1A56D5AD34}" type="slidenum">
              <a:rPr lang="en-US" smtClean="0"/>
              <a:t>3</a:t>
            </a:fld>
            <a:endParaRPr lang="en-US"/>
          </a:p>
        </p:txBody>
      </p:sp>
    </p:spTree>
    <p:extLst>
      <p:ext uri="{BB962C8B-B14F-4D97-AF65-F5344CB8AC3E}">
        <p14:creationId xmlns:p14="http://schemas.microsoft.com/office/powerpoint/2010/main" val="4219456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F34F3-CF83-E0E5-4BE4-07F9C435E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E36CA4-DBF5-E488-8CAD-F36FDE1E7A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27B06-CFE7-D220-E8A1-AD4F2E0C86CD}"/>
              </a:ext>
            </a:extLst>
          </p:cNvPr>
          <p:cNvSpPr>
            <a:spLocks noGrp="1"/>
          </p:cNvSpPr>
          <p:nvPr>
            <p:ph type="body" idx="1"/>
          </p:nvPr>
        </p:nvSpPr>
        <p:spPr/>
        <p:txBody>
          <a:bodyPr/>
          <a:lstStyle/>
          <a:p>
            <a:r>
              <a:rPr lang="en-US" dirty="0"/>
              <a:t>Should I add interactive reasoning?</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Clinical world models and digital twins: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p>
            <a:r>
              <a:rPr lang="en-US" sz="1200" dirty="0">
                <a:solidFill>
                  <a:schemeClr val="tx1"/>
                </a:solidFill>
              </a:rPr>
              <a:t>AI for causal effect estimation: </a:t>
            </a:r>
            <a:r>
              <a:rPr lang="en-US" dirty="0"/>
              <a:t>We develop models that estimate causal effects from observational clinical data when randomized trials are costly or infeasible, including methods that use AI predictions as surrogate endpoints when true outcomes are long-term or expensive to observe.</a:t>
            </a:r>
          </a:p>
          <a:p>
            <a:endParaRPr lang="en-US" dirty="0"/>
          </a:p>
        </p:txBody>
      </p:sp>
      <p:sp>
        <p:nvSpPr>
          <p:cNvPr id="4" name="Slide Number Placeholder 3">
            <a:extLst>
              <a:ext uri="{FF2B5EF4-FFF2-40B4-BE49-F238E27FC236}">
                <a16:creationId xmlns:a16="http://schemas.microsoft.com/office/drawing/2014/main" id="{2B5A520C-30A6-8539-904D-1480A2E239C5}"/>
              </a:ext>
            </a:extLst>
          </p:cNvPr>
          <p:cNvSpPr>
            <a:spLocks noGrp="1"/>
          </p:cNvSpPr>
          <p:nvPr>
            <p:ph type="sldNum" sz="quarter" idx="5"/>
          </p:nvPr>
        </p:nvSpPr>
        <p:spPr/>
        <p:txBody>
          <a:bodyPr/>
          <a:lstStyle/>
          <a:p>
            <a:fld id="{5CAA89E0-8E79-4D48-9709-3B1A56D5AD34}" type="slidenum">
              <a:rPr lang="en-US" smtClean="0"/>
              <a:t>4</a:t>
            </a:fld>
            <a:endParaRPr lang="en-US"/>
          </a:p>
        </p:txBody>
      </p:sp>
    </p:spTree>
    <p:extLst>
      <p:ext uri="{BB962C8B-B14F-4D97-AF65-F5344CB8AC3E}">
        <p14:creationId xmlns:p14="http://schemas.microsoft.com/office/powerpoint/2010/main" val="3110061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DFC86-9711-7472-DE12-21D41CE4E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4C9B54-E79B-EBFD-6B76-51AB9386D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B7319-B55E-C011-5938-EF8B2EA4A697}"/>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Generative AI is often used for unverifiable tasks in healthcare like ambient documentation, which lack automatically verifiable outputs and require expert human review. To evaluate these frontier and commercial tools, we conduct expert evaluation studies and apply psychometric validity principles to develop scalable, automated evaluation methods.</a:t>
            </a:r>
            <a:endParaRPr lang="en-US" dirty="0"/>
          </a:p>
        </p:txBody>
      </p:sp>
      <p:sp>
        <p:nvSpPr>
          <p:cNvPr id="4" name="Slide Number Placeholder 3">
            <a:extLst>
              <a:ext uri="{FF2B5EF4-FFF2-40B4-BE49-F238E27FC236}">
                <a16:creationId xmlns:a16="http://schemas.microsoft.com/office/drawing/2014/main" id="{E4B9D549-7320-BDBF-1864-AD7CE483EB79}"/>
              </a:ext>
            </a:extLst>
          </p:cNvPr>
          <p:cNvSpPr>
            <a:spLocks noGrp="1"/>
          </p:cNvSpPr>
          <p:nvPr>
            <p:ph type="sldNum" sz="quarter" idx="5"/>
          </p:nvPr>
        </p:nvSpPr>
        <p:spPr/>
        <p:txBody>
          <a:bodyPr/>
          <a:lstStyle/>
          <a:p>
            <a:fld id="{5CAA89E0-8E79-4D48-9709-3B1A56D5AD34}" type="slidenum">
              <a:rPr lang="en-US" smtClean="0"/>
              <a:t>5</a:t>
            </a:fld>
            <a:endParaRPr lang="en-US"/>
          </a:p>
        </p:txBody>
      </p:sp>
    </p:spTree>
    <p:extLst>
      <p:ext uri="{BB962C8B-B14F-4D97-AF65-F5344CB8AC3E}">
        <p14:creationId xmlns:p14="http://schemas.microsoft.com/office/powerpoint/2010/main" val="15539591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58AEC-E5F6-F084-F84C-74D6D9D873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E32B2-D7B1-10F6-0FBE-603A9CE206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97839C-92D6-F586-2C33-E5493C3235BD}"/>
              </a:ext>
            </a:extLst>
          </p:cNvPr>
          <p:cNvSpPr>
            <a:spLocks noGrp="1"/>
          </p:cNvSpPr>
          <p:nvPr>
            <p:ph type="body" idx="1"/>
          </p:nvPr>
        </p:nvSpPr>
        <p:spPr/>
        <p:txBody>
          <a:bodyPr/>
          <a:lstStyle/>
          <a:p>
            <a:pPr algn="l"/>
            <a:r>
              <a:rPr lang="en-US" sz="1200" b="1" dirty="0">
                <a:solidFill>
                  <a:schemeClr val="tx1"/>
                </a:solidFill>
              </a:rPr>
              <a:t>Clinician-annotated benchmarks: </a:t>
            </a:r>
            <a:r>
              <a:rPr lang="en-US" dirty="0"/>
              <a:t>To evaluate generative AI models, we curate and release clinician-annotated benchmark datasets, capturing data that is not normally recorded in routine care --- such as the reasoning chains behind a decision --- with a focus on ecological validity.</a:t>
            </a:r>
          </a:p>
          <a:p>
            <a:pPr algn="l"/>
            <a:endParaRPr lang="en-US"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rPr>
              <a:t>Reader studies and rating tasks: </a:t>
            </a:r>
            <a:r>
              <a:rPr lang="en-US" sz="1200" b="0" i="0" kern="1200" dirty="0">
                <a:solidFill>
                  <a:schemeClr val="tx1"/>
                </a:solidFill>
                <a:effectLst/>
                <a:latin typeface="+mn-lt"/>
                <a:ea typeface="+mn-ea"/>
                <a:cs typeface="+mn-cs"/>
              </a:rPr>
              <a:t>We conduct empirical reader studies and rubric rating tasks with clinicians to evaluate how frontier and commercial AI models perform on real clinical tasks, with the goal of identifying gaps between benchmark performance and bedside utility.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RCTs for AI models: </a:t>
            </a:r>
            <a:r>
              <a:rPr lang="en-US" dirty="0"/>
              <a:t>We develop causal inference and game-theoretic methods to study AI's real-world impact on two fronts: how clinicians use AI, including automation bias, and its impact on clinical, and how AI reshapes the strategic interactions between health systems and insurers that determine billing.</a:t>
            </a:r>
            <a:endParaRPr lang="en-US" sz="1200" dirty="0">
              <a:solidFill>
                <a:schemeClr val="tx1"/>
              </a:solidFill>
            </a:endParaRPr>
          </a:p>
          <a:p>
            <a:pPr algn="l"/>
            <a:endParaRPr lang="en-US" sz="1200" dirty="0">
              <a:solidFill>
                <a:schemeClr val="tx1"/>
              </a:solidFill>
            </a:endParaRPr>
          </a:p>
        </p:txBody>
      </p:sp>
      <p:sp>
        <p:nvSpPr>
          <p:cNvPr id="4" name="Slide Number Placeholder 3">
            <a:extLst>
              <a:ext uri="{FF2B5EF4-FFF2-40B4-BE49-F238E27FC236}">
                <a16:creationId xmlns:a16="http://schemas.microsoft.com/office/drawing/2014/main" id="{EA695006-5D44-98AF-C885-9ADB7B73B514}"/>
              </a:ext>
            </a:extLst>
          </p:cNvPr>
          <p:cNvSpPr>
            <a:spLocks noGrp="1"/>
          </p:cNvSpPr>
          <p:nvPr>
            <p:ph type="sldNum" sz="quarter" idx="5"/>
          </p:nvPr>
        </p:nvSpPr>
        <p:spPr/>
        <p:txBody>
          <a:bodyPr/>
          <a:lstStyle/>
          <a:p>
            <a:fld id="{5CAA89E0-8E79-4D48-9709-3B1A56D5AD34}" type="slidenum">
              <a:rPr lang="en-US" smtClean="0"/>
              <a:t>6</a:t>
            </a:fld>
            <a:endParaRPr lang="en-US"/>
          </a:p>
        </p:txBody>
      </p:sp>
    </p:spTree>
    <p:extLst>
      <p:ext uri="{BB962C8B-B14F-4D97-AF65-F5344CB8AC3E}">
        <p14:creationId xmlns:p14="http://schemas.microsoft.com/office/powerpoint/2010/main" val="3939109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8B5E9-BC89-8966-5C3E-F5148975E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6CC31C-9763-E366-3EE1-4D9575D325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27A4BC-5527-4D36-B39C-8511D828F73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rPr>
              <a:t>Validity of LLM as judge: </a:t>
            </a:r>
            <a:r>
              <a:rPr lang="en-US" sz="1200" b="0" dirty="0">
                <a:solidFill>
                  <a:schemeClr val="tx1"/>
                </a:solidFill>
              </a:rPr>
              <a:t>One way to evaluate LLMs in unverifiable tasks </a:t>
            </a:r>
            <a:r>
              <a:rPr lang="en-US" sz="1200" b="0" i="0" kern="1200" dirty="0">
                <a:solidFill>
                  <a:schemeClr val="tx1"/>
                </a:solidFill>
                <a:effectLst/>
                <a:latin typeface="+mn-lt"/>
                <a:ea typeface="+mn-ea"/>
                <a:cs typeface="+mn-cs"/>
              </a:rPr>
              <a:t> in clinical contexts</a:t>
            </a:r>
            <a:r>
              <a:rPr lang="en-US" sz="1200" b="0" dirty="0">
                <a:solidFill>
                  <a:schemeClr val="tx1"/>
                </a:solidFill>
              </a:rPr>
              <a:t> is to </a:t>
            </a:r>
            <a:r>
              <a:rPr lang="en-US" sz="1200" b="0" i="0" kern="1200" dirty="0">
                <a:solidFill>
                  <a:schemeClr val="tx1"/>
                </a:solidFill>
                <a:effectLst/>
                <a:latin typeface="+mn-lt"/>
                <a:ea typeface="+mn-ea"/>
                <a:cs typeface="+mn-cs"/>
              </a:rPr>
              <a:t>use other LLMs as automated judges. We study the statistical validity of these methods and the optimal approaches for combining expensive human evaluations with scalable AI-based ones.</a:t>
            </a:r>
          </a:p>
          <a:p>
            <a:pPr lvl="0" algn="l">
              <a:defRPr/>
            </a:pPr>
            <a:endParaRPr lang="en-US" sz="12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rPr>
              <a:t>Construct validity and benchmark item design: </a:t>
            </a:r>
            <a:r>
              <a:rPr lang="en-US" sz="1200" dirty="0">
                <a:solidFill>
                  <a:schemeClr val="tx1"/>
                </a:solidFill>
              </a:rPr>
              <a:t>Based on our reader studies and human evals, we design new benchmarks items that discriminate between well and poor performing models in real-world tasks, with the goal of improving the overall construct validity of benchmarks used by vendors and researchers for model eval.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rPr>
              <a:t>Monitorability and scalable oversight. </a:t>
            </a:r>
            <a:r>
              <a:rPr lang="en-US" dirty="0"/>
              <a:t>Evaluating generative AI in a health system is not a one-time check but rather a continuous process. We study how monitorable deployed models are by quantifying the faithfulness of their chain-of-thought reasoning and designing interventions to correct errors as they surface.</a:t>
            </a:r>
            <a:endParaRPr lang="en-US" sz="1200" dirty="0">
              <a:solidFill>
                <a:schemeClr val="tx1"/>
              </a:solidFill>
            </a:endParaRPr>
          </a:p>
          <a:p>
            <a:pPr lvl="0" algn="l">
              <a:defRPr/>
            </a:pPr>
            <a:endParaRPr lang="en-US" sz="1200" b="1" dirty="0">
              <a:solidFill>
                <a:schemeClr val="tx1"/>
              </a:solidFill>
            </a:endParaRPr>
          </a:p>
        </p:txBody>
      </p:sp>
      <p:sp>
        <p:nvSpPr>
          <p:cNvPr id="4" name="Slide Number Placeholder 3">
            <a:extLst>
              <a:ext uri="{FF2B5EF4-FFF2-40B4-BE49-F238E27FC236}">
                <a16:creationId xmlns:a16="http://schemas.microsoft.com/office/drawing/2014/main" id="{C2911F53-A422-EA9D-C83A-8C0E50093EBC}"/>
              </a:ext>
            </a:extLst>
          </p:cNvPr>
          <p:cNvSpPr>
            <a:spLocks noGrp="1"/>
          </p:cNvSpPr>
          <p:nvPr>
            <p:ph type="sldNum" sz="quarter" idx="5"/>
          </p:nvPr>
        </p:nvSpPr>
        <p:spPr/>
        <p:txBody>
          <a:bodyPr/>
          <a:lstStyle/>
          <a:p>
            <a:fld id="{5CAA89E0-8E79-4D48-9709-3B1A56D5AD34}" type="slidenum">
              <a:rPr lang="en-US" smtClean="0"/>
              <a:t>7</a:t>
            </a:fld>
            <a:endParaRPr lang="en-US"/>
          </a:p>
        </p:txBody>
      </p:sp>
    </p:spTree>
    <p:extLst>
      <p:ext uri="{BB962C8B-B14F-4D97-AF65-F5344CB8AC3E}">
        <p14:creationId xmlns:p14="http://schemas.microsoft.com/office/powerpoint/2010/main" val="2146262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B4927-7E4A-6B40-638D-C29588EE16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59B86B-30A7-5577-B3B0-8BB8E190D4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3C6A8C4-033F-9724-01BC-90CB652B542E}"/>
              </a:ext>
            </a:extLst>
          </p:cNvPr>
          <p:cNvSpPr>
            <a:spLocks noGrp="1"/>
          </p:cNvSpPr>
          <p:nvPr>
            <p:ph type="dt" sz="half" idx="10"/>
          </p:nvPr>
        </p:nvSpPr>
        <p:spPr/>
        <p:txBody>
          <a:bodyPr/>
          <a:lstStyle/>
          <a:p>
            <a:fld id="{5428E72A-6C79-7C42-ACA1-0B76838F2411}" type="datetimeFigureOut">
              <a:rPr lang="en-US" smtClean="0"/>
              <a:t>7/1/26</a:t>
            </a:fld>
            <a:endParaRPr lang="en-US"/>
          </a:p>
        </p:txBody>
      </p:sp>
      <p:sp>
        <p:nvSpPr>
          <p:cNvPr id="5" name="Footer Placeholder 4">
            <a:extLst>
              <a:ext uri="{FF2B5EF4-FFF2-40B4-BE49-F238E27FC236}">
                <a16:creationId xmlns:a16="http://schemas.microsoft.com/office/drawing/2014/main" id="{B0D8E6E3-BEE4-9233-6000-648E6860B5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0C26F-EF4C-582E-CC5C-BA108CA167ED}"/>
              </a:ext>
            </a:extLst>
          </p:cNvPr>
          <p:cNvSpPr>
            <a:spLocks noGrp="1"/>
          </p:cNvSpPr>
          <p:nvPr>
            <p:ph type="sldNum" sz="quarter" idx="12"/>
          </p:nvPr>
        </p:nvSpPr>
        <p:spPr/>
        <p:txBody>
          <a:bodyPr/>
          <a:lstStyle/>
          <a:p>
            <a:fld id="{288AF788-70CA-5B40-804E-9A4C4078BCB2}" type="slidenum">
              <a:rPr lang="en-US" smtClean="0"/>
              <a:t>‹#›</a:t>
            </a:fld>
            <a:endParaRPr lang="en-US"/>
          </a:p>
        </p:txBody>
      </p:sp>
    </p:spTree>
    <p:extLst>
      <p:ext uri="{BB962C8B-B14F-4D97-AF65-F5344CB8AC3E}">
        <p14:creationId xmlns:p14="http://schemas.microsoft.com/office/powerpoint/2010/main" val="3486059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C1D0A-AD9F-F6D1-9AF3-7183BD0DEA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D53163-EDDA-8F8C-7835-76B8278D80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7263EC-2D1B-1673-7927-CEFBF768E2A0}"/>
              </a:ext>
            </a:extLst>
          </p:cNvPr>
          <p:cNvSpPr>
            <a:spLocks noGrp="1"/>
          </p:cNvSpPr>
          <p:nvPr>
            <p:ph type="dt" sz="half" idx="10"/>
          </p:nvPr>
        </p:nvSpPr>
        <p:spPr/>
        <p:txBody>
          <a:bodyPr/>
          <a:lstStyle/>
          <a:p>
            <a:fld id="{5428E72A-6C79-7C42-ACA1-0B76838F2411}" type="datetimeFigureOut">
              <a:rPr lang="en-US" smtClean="0"/>
              <a:t>7/1/26</a:t>
            </a:fld>
            <a:endParaRPr lang="en-US"/>
          </a:p>
        </p:txBody>
      </p:sp>
      <p:sp>
        <p:nvSpPr>
          <p:cNvPr id="5" name="Footer Placeholder 4">
            <a:extLst>
              <a:ext uri="{FF2B5EF4-FFF2-40B4-BE49-F238E27FC236}">
                <a16:creationId xmlns:a16="http://schemas.microsoft.com/office/drawing/2014/main" id="{ABC61D25-529F-1C63-079F-ADAA56AB9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938C83-663A-1EDF-3CD3-56BCE79C6DA3}"/>
              </a:ext>
            </a:extLst>
          </p:cNvPr>
          <p:cNvSpPr>
            <a:spLocks noGrp="1"/>
          </p:cNvSpPr>
          <p:nvPr>
            <p:ph type="sldNum" sz="quarter" idx="12"/>
          </p:nvPr>
        </p:nvSpPr>
        <p:spPr/>
        <p:txBody>
          <a:bodyPr/>
          <a:lstStyle/>
          <a:p>
            <a:fld id="{288AF788-70CA-5B40-804E-9A4C4078BCB2}" type="slidenum">
              <a:rPr lang="en-US" smtClean="0"/>
              <a:t>‹#›</a:t>
            </a:fld>
            <a:endParaRPr lang="en-US"/>
          </a:p>
        </p:txBody>
      </p:sp>
    </p:spTree>
    <p:extLst>
      <p:ext uri="{BB962C8B-B14F-4D97-AF65-F5344CB8AC3E}">
        <p14:creationId xmlns:p14="http://schemas.microsoft.com/office/powerpoint/2010/main" val="3361453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CDFEA-CF14-5158-64C4-FAD0B5AF20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D1AC8BA-3A1B-C39D-2340-EE914290C5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9B3C17-BF44-BA64-700B-29F46EA4A72E}"/>
              </a:ext>
            </a:extLst>
          </p:cNvPr>
          <p:cNvSpPr>
            <a:spLocks noGrp="1"/>
          </p:cNvSpPr>
          <p:nvPr>
            <p:ph type="dt" sz="half" idx="10"/>
          </p:nvPr>
        </p:nvSpPr>
        <p:spPr/>
        <p:txBody>
          <a:bodyPr/>
          <a:lstStyle/>
          <a:p>
            <a:fld id="{5428E72A-6C79-7C42-ACA1-0B76838F2411}" type="datetimeFigureOut">
              <a:rPr lang="en-US" smtClean="0"/>
              <a:t>7/1/26</a:t>
            </a:fld>
            <a:endParaRPr lang="en-US"/>
          </a:p>
        </p:txBody>
      </p:sp>
      <p:sp>
        <p:nvSpPr>
          <p:cNvPr id="5" name="Footer Placeholder 4">
            <a:extLst>
              <a:ext uri="{FF2B5EF4-FFF2-40B4-BE49-F238E27FC236}">
                <a16:creationId xmlns:a16="http://schemas.microsoft.com/office/drawing/2014/main" id="{C1241E6D-8D1E-E639-B025-592ACD443E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75A83F-546B-4D7B-66A6-CAA96A898324}"/>
              </a:ext>
            </a:extLst>
          </p:cNvPr>
          <p:cNvSpPr>
            <a:spLocks noGrp="1"/>
          </p:cNvSpPr>
          <p:nvPr>
            <p:ph type="sldNum" sz="quarter" idx="12"/>
          </p:nvPr>
        </p:nvSpPr>
        <p:spPr/>
        <p:txBody>
          <a:bodyPr/>
          <a:lstStyle/>
          <a:p>
            <a:fld id="{288AF788-70CA-5B40-804E-9A4C4078BCB2}" type="slidenum">
              <a:rPr lang="en-US" smtClean="0"/>
              <a:t>‹#›</a:t>
            </a:fld>
            <a:endParaRPr lang="en-US"/>
          </a:p>
        </p:txBody>
      </p:sp>
    </p:spTree>
    <p:extLst>
      <p:ext uri="{BB962C8B-B14F-4D97-AF65-F5344CB8AC3E}">
        <p14:creationId xmlns:p14="http://schemas.microsoft.com/office/powerpoint/2010/main" val="1880242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92A-E0CD-4682-78B5-4E9D0A0695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965BA9-C850-0007-053C-9D54D22A04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C43B9E-A9D4-7E10-A32D-5FEA937C35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E043F5-514F-C9D7-8BC7-E974A42F3554}"/>
              </a:ext>
            </a:extLst>
          </p:cNvPr>
          <p:cNvSpPr>
            <a:spLocks noGrp="1"/>
          </p:cNvSpPr>
          <p:nvPr>
            <p:ph type="dt" sz="half" idx="10"/>
          </p:nvPr>
        </p:nvSpPr>
        <p:spPr/>
        <p:txBody>
          <a:bodyPr/>
          <a:lstStyle/>
          <a:p>
            <a:fld id="{5428E72A-6C79-7C42-ACA1-0B76838F2411}" type="datetimeFigureOut">
              <a:rPr lang="en-US" smtClean="0"/>
              <a:t>7/1/26</a:t>
            </a:fld>
            <a:endParaRPr lang="en-US"/>
          </a:p>
        </p:txBody>
      </p:sp>
      <p:sp>
        <p:nvSpPr>
          <p:cNvPr id="6" name="Footer Placeholder 5">
            <a:extLst>
              <a:ext uri="{FF2B5EF4-FFF2-40B4-BE49-F238E27FC236}">
                <a16:creationId xmlns:a16="http://schemas.microsoft.com/office/drawing/2014/main" id="{29FC8BBF-B962-42D5-4285-054C92A54B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C4E15-1482-6521-076B-A4A120E466DF}"/>
              </a:ext>
            </a:extLst>
          </p:cNvPr>
          <p:cNvSpPr>
            <a:spLocks noGrp="1"/>
          </p:cNvSpPr>
          <p:nvPr>
            <p:ph type="sldNum" sz="quarter" idx="12"/>
          </p:nvPr>
        </p:nvSpPr>
        <p:spPr/>
        <p:txBody>
          <a:bodyPr/>
          <a:lstStyle/>
          <a:p>
            <a:fld id="{288AF788-70CA-5B40-804E-9A4C4078BCB2}" type="slidenum">
              <a:rPr lang="en-US" smtClean="0"/>
              <a:t>‹#›</a:t>
            </a:fld>
            <a:endParaRPr lang="en-US"/>
          </a:p>
        </p:txBody>
      </p:sp>
    </p:spTree>
    <p:extLst>
      <p:ext uri="{BB962C8B-B14F-4D97-AF65-F5344CB8AC3E}">
        <p14:creationId xmlns:p14="http://schemas.microsoft.com/office/powerpoint/2010/main" val="2789388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17EF4-8841-46C8-B42C-E4C74A595B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FDCD84-CB0A-F95F-EBE3-90A76BC77C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1CE814-5E56-CB9D-DB5B-7132075742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65C28E-7A49-C8BC-8CA1-94015A85E0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78F594-82E6-F978-1708-7DF97999A4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0BFB48-0506-F113-54D9-DED32C28A181}"/>
              </a:ext>
            </a:extLst>
          </p:cNvPr>
          <p:cNvSpPr>
            <a:spLocks noGrp="1"/>
          </p:cNvSpPr>
          <p:nvPr>
            <p:ph type="dt" sz="half" idx="10"/>
          </p:nvPr>
        </p:nvSpPr>
        <p:spPr/>
        <p:txBody>
          <a:bodyPr/>
          <a:lstStyle/>
          <a:p>
            <a:fld id="{5428E72A-6C79-7C42-ACA1-0B76838F2411}" type="datetimeFigureOut">
              <a:rPr lang="en-US" smtClean="0"/>
              <a:t>7/1/26</a:t>
            </a:fld>
            <a:endParaRPr lang="en-US"/>
          </a:p>
        </p:txBody>
      </p:sp>
      <p:sp>
        <p:nvSpPr>
          <p:cNvPr id="8" name="Footer Placeholder 7">
            <a:extLst>
              <a:ext uri="{FF2B5EF4-FFF2-40B4-BE49-F238E27FC236}">
                <a16:creationId xmlns:a16="http://schemas.microsoft.com/office/drawing/2014/main" id="{51AD93AF-B6CB-4DCA-3F02-08FC951A79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50EB232-C893-7D2C-CBF8-CBBE9B6D62BB}"/>
              </a:ext>
            </a:extLst>
          </p:cNvPr>
          <p:cNvSpPr>
            <a:spLocks noGrp="1"/>
          </p:cNvSpPr>
          <p:nvPr>
            <p:ph type="sldNum" sz="quarter" idx="12"/>
          </p:nvPr>
        </p:nvSpPr>
        <p:spPr/>
        <p:txBody>
          <a:bodyPr/>
          <a:lstStyle/>
          <a:p>
            <a:fld id="{288AF788-70CA-5B40-804E-9A4C4078BCB2}" type="slidenum">
              <a:rPr lang="en-US" smtClean="0"/>
              <a:t>‹#›</a:t>
            </a:fld>
            <a:endParaRPr lang="en-US"/>
          </a:p>
        </p:txBody>
      </p:sp>
    </p:spTree>
    <p:extLst>
      <p:ext uri="{BB962C8B-B14F-4D97-AF65-F5344CB8AC3E}">
        <p14:creationId xmlns:p14="http://schemas.microsoft.com/office/powerpoint/2010/main" val="1482044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0EFA9-5276-AF7D-C2EC-4519015868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547B7C-E555-1882-B598-F90D5B9E2238}"/>
              </a:ext>
            </a:extLst>
          </p:cNvPr>
          <p:cNvSpPr>
            <a:spLocks noGrp="1"/>
          </p:cNvSpPr>
          <p:nvPr>
            <p:ph type="dt" sz="half" idx="10"/>
          </p:nvPr>
        </p:nvSpPr>
        <p:spPr/>
        <p:txBody>
          <a:bodyPr/>
          <a:lstStyle/>
          <a:p>
            <a:fld id="{5428E72A-6C79-7C42-ACA1-0B76838F2411}" type="datetimeFigureOut">
              <a:rPr lang="en-US" smtClean="0"/>
              <a:t>7/1/26</a:t>
            </a:fld>
            <a:endParaRPr lang="en-US"/>
          </a:p>
        </p:txBody>
      </p:sp>
      <p:sp>
        <p:nvSpPr>
          <p:cNvPr id="4" name="Footer Placeholder 3">
            <a:extLst>
              <a:ext uri="{FF2B5EF4-FFF2-40B4-BE49-F238E27FC236}">
                <a16:creationId xmlns:a16="http://schemas.microsoft.com/office/drawing/2014/main" id="{048F9B65-4442-6800-8D4A-C94553DDBC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34A076-9A2B-8687-0C8B-F6864F5ACE6A}"/>
              </a:ext>
            </a:extLst>
          </p:cNvPr>
          <p:cNvSpPr>
            <a:spLocks noGrp="1"/>
          </p:cNvSpPr>
          <p:nvPr>
            <p:ph type="sldNum" sz="quarter" idx="12"/>
          </p:nvPr>
        </p:nvSpPr>
        <p:spPr/>
        <p:txBody>
          <a:bodyPr/>
          <a:lstStyle/>
          <a:p>
            <a:fld id="{288AF788-70CA-5B40-804E-9A4C4078BCB2}" type="slidenum">
              <a:rPr lang="en-US" smtClean="0"/>
              <a:t>‹#›</a:t>
            </a:fld>
            <a:endParaRPr lang="en-US"/>
          </a:p>
        </p:txBody>
      </p:sp>
    </p:spTree>
    <p:extLst>
      <p:ext uri="{BB962C8B-B14F-4D97-AF65-F5344CB8AC3E}">
        <p14:creationId xmlns:p14="http://schemas.microsoft.com/office/powerpoint/2010/main" val="3112073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53EBB0-4F3E-FF73-5030-9662309B2B18}"/>
              </a:ext>
            </a:extLst>
          </p:cNvPr>
          <p:cNvSpPr>
            <a:spLocks noGrp="1"/>
          </p:cNvSpPr>
          <p:nvPr>
            <p:ph type="dt" sz="half" idx="10"/>
          </p:nvPr>
        </p:nvSpPr>
        <p:spPr/>
        <p:txBody>
          <a:bodyPr/>
          <a:lstStyle/>
          <a:p>
            <a:fld id="{5428E72A-6C79-7C42-ACA1-0B76838F2411}" type="datetimeFigureOut">
              <a:rPr lang="en-US" smtClean="0"/>
              <a:t>7/1/26</a:t>
            </a:fld>
            <a:endParaRPr lang="en-US"/>
          </a:p>
        </p:txBody>
      </p:sp>
      <p:sp>
        <p:nvSpPr>
          <p:cNvPr id="3" name="Footer Placeholder 2">
            <a:extLst>
              <a:ext uri="{FF2B5EF4-FFF2-40B4-BE49-F238E27FC236}">
                <a16:creationId xmlns:a16="http://schemas.microsoft.com/office/drawing/2014/main" id="{AABA7E69-A97D-69DB-961A-A29FD364624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C12057-1600-8071-D0F7-11B50E6CF7B8}"/>
              </a:ext>
            </a:extLst>
          </p:cNvPr>
          <p:cNvSpPr>
            <a:spLocks noGrp="1"/>
          </p:cNvSpPr>
          <p:nvPr>
            <p:ph type="sldNum" sz="quarter" idx="12"/>
          </p:nvPr>
        </p:nvSpPr>
        <p:spPr/>
        <p:txBody>
          <a:bodyPr/>
          <a:lstStyle/>
          <a:p>
            <a:fld id="{288AF788-70CA-5B40-804E-9A4C4078BCB2}" type="slidenum">
              <a:rPr lang="en-US" smtClean="0"/>
              <a:t>‹#›</a:t>
            </a:fld>
            <a:endParaRPr lang="en-US"/>
          </a:p>
        </p:txBody>
      </p:sp>
    </p:spTree>
    <p:extLst>
      <p:ext uri="{BB962C8B-B14F-4D97-AF65-F5344CB8AC3E}">
        <p14:creationId xmlns:p14="http://schemas.microsoft.com/office/powerpoint/2010/main" val="1305200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3E498-8B5F-4565-BFC6-2F862C1EB7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F72CC5-5F39-B81D-2C34-22526044B4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34419C-46F2-319A-D24A-24E23E6BF3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5D8BC9-F40E-F8E5-754A-5E7ECE73EC2E}"/>
              </a:ext>
            </a:extLst>
          </p:cNvPr>
          <p:cNvSpPr>
            <a:spLocks noGrp="1"/>
          </p:cNvSpPr>
          <p:nvPr>
            <p:ph type="dt" sz="half" idx="10"/>
          </p:nvPr>
        </p:nvSpPr>
        <p:spPr/>
        <p:txBody>
          <a:bodyPr/>
          <a:lstStyle/>
          <a:p>
            <a:fld id="{5428E72A-6C79-7C42-ACA1-0B76838F2411}" type="datetimeFigureOut">
              <a:rPr lang="en-US" smtClean="0"/>
              <a:t>7/1/26</a:t>
            </a:fld>
            <a:endParaRPr lang="en-US"/>
          </a:p>
        </p:txBody>
      </p:sp>
      <p:sp>
        <p:nvSpPr>
          <p:cNvPr id="6" name="Footer Placeholder 5">
            <a:extLst>
              <a:ext uri="{FF2B5EF4-FFF2-40B4-BE49-F238E27FC236}">
                <a16:creationId xmlns:a16="http://schemas.microsoft.com/office/drawing/2014/main" id="{1854D477-CCE1-12F3-AFE2-3C50C924C2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0CA75F-D453-0DD9-4E13-8C6D5B6777BB}"/>
              </a:ext>
            </a:extLst>
          </p:cNvPr>
          <p:cNvSpPr>
            <a:spLocks noGrp="1"/>
          </p:cNvSpPr>
          <p:nvPr>
            <p:ph type="sldNum" sz="quarter" idx="12"/>
          </p:nvPr>
        </p:nvSpPr>
        <p:spPr/>
        <p:txBody>
          <a:bodyPr/>
          <a:lstStyle/>
          <a:p>
            <a:fld id="{288AF788-70CA-5B40-804E-9A4C4078BCB2}" type="slidenum">
              <a:rPr lang="en-US" smtClean="0"/>
              <a:t>‹#›</a:t>
            </a:fld>
            <a:endParaRPr lang="en-US"/>
          </a:p>
        </p:txBody>
      </p:sp>
    </p:spTree>
    <p:extLst>
      <p:ext uri="{BB962C8B-B14F-4D97-AF65-F5344CB8AC3E}">
        <p14:creationId xmlns:p14="http://schemas.microsoft.com/office/powerpoint/2010/main" val="2034861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2F971-3342-CB49-17B7-D52DC459AF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FA8346-4DA3-1F07-9CD9-6B403B6534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FE00052-6EFC-A574-7C97-FD9A116CE6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EBA34A-980B-D783-51CF-8CD3AFD3CB63}"/>
              </a:ext>
            </a:extLst>
          </p:cNvPr>
          <p:cNvSpPr>
            <a:spLocks noGrp="1"/>
          </p:cNvSpPr>
          <p:nvPr>
            <p:ph type="dt" sz="half" idx="10"/>
          </p:nvPr>
        </p:nvSpPr>
        <p:spPr/>
        <p:txBody>
          <a:bodyPr/>
          <a:lstStyle/>
          <a:p>
            <a:fld id="{5428E72A-6C79-7C42-ACA1-0B76838F2411}" type="datetimeFigureOut">
              <a:rPr lang="en-US" smtClean="0"/>
              <a:t>7/1/26</a:t>
            </a:fld>
            <a:endParaRPr lang="en-US"/>
          </a:p>
        </p:txBody>
      </p:sp>
      <p:sp>
        <p:nvSpPr>
          <p:cNvPr id="6" name="Footer Placeholder 5">
            <a:extLst>
              <a:ext uri="{FF2B5EF4-FFF2-40B4-BE49-F238E27FC236}">
                <a16:creationId xmlns:a16="http://schemas.microsoft.com/office/drawing/2014/main" id="{488794F8-E2B1-9D84-261B-25D16081C3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F381BA-58C5-40AB-EA6C-141447890C06}"/>
              </a:ext>
            </a:extLst>
          </p:cNvPr>
          <p:cNvSpPr>
            <a:spLocks noGrp="1"/>
          </p:cNvSpPr>
          <p:nvPr>
            <p:ph type="sldNum" sz="quarter" idx="12"/>
          </p:nvPr>
        </p:nvSpPr>
        <p:spPr/>
        <p:txBody>
          <a:bodyPr/>
          <a:lstStyle/>
          <a:p>
            <a:fld id="{288AF788-70CA-5B40-804E-9A4C4078BCB2}" type="slidenum">
              <a:rPr lang="en-US" smtClean="0"/>
              <a:t>‹#›</a:t>
            </a:fld>
            <a:endParaRPr lang="en-US"/>
          </a:p>
        </p:txBody>
      </p:sp>
    </p:spTree>
    <p:extLst>
      <p:ext uri="{BB962C8B-B14F-4D97-AF65-F5344CB8AC3E}">
        <p14:creationId xmlns:p14="http://schemas.microsoft.com/office/powerpoint/2010/main" val="3334006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FB4A5-F85E-5318-7163-B1331F6C8F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B48085-82CC-F2F2-F73A-5ECB50B001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4518B0-32A4-0F49-873C-37C1B5BF81C6}"/>
              </a:ext>
            </a:extLst>
          </p:cNvPr>
          <p:cNvSpPr>
            <a:spLocks noGrp="1"/>
          </p:cNvSpPr>
          <p:nvPr>
            <p:ph type="dt" sz="half" idx="10"/>
          </p:nvPr>
        </p:nvSpPr>
        <p:spPr/>
        <p:txBody>
          <a:bodyPr/>
          <a:lstStyle/>
          <a:p>
            <a:fld id="{5428E72A-6C79-7C42-ACA1-0B76838F2411}" type="datetimeFigureOut">
              <a:rPr lang="en-US" smtClean="0"/>
              <a:t>7/1/26</a:t>
            </a:fld>
            <a:endParaRPr lang="en-US"/>
          </a:p>
        </p:txBody>
      </p:sp>
      <p:sp>
        <p:nvSpPr>
          <p:cNvPr id="5" name="Footer Placeholder 4">
            <a:extLst>
              <a:ext uri="{FF2B5EF4-FFF2-40B4-BE49-F238E27FC236}">
                <a16:creationId xmlns:a16="http://schemas.microsoft.com/office/drawing/2014/main" id="{08FD20FD-91AC-1D72-2F85-CC7B898833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0346A7-871C-A963-B535-AC7753E2E12C}"/>
              </a:ext>
            </a:extLst>
          </p:cNvPr>
          <p:cNvSpPr>
            <a:spLocks noGrp="1"/>
          </p:cNvSpPr>
          <p:nvPr>
            <p:ph type="sldNum" sz="quarter" idx="12"/>
          </p:nvPr>
        </p:nvSpPr>
        <p:spPr/>
        <p:txBody>
          <a:bodyPr/>
          <a:lstStyle/>
          <a:p>
            <a:fld id="{288AF788-70CA-5B40-804E-9A4C4078BCB2}" type="slidenum">
              <a:rPr lang="en-US" smtClean="0"/>
              <a:t>‹#›</a:t>
            </a:fld>
            <a:endParaRPr lang="en-US"/>
          </a:p>
        </p:txBody>
      </p:sp>
    </p:spTree>
    <p:extLst>
      <p:ext uri="{BB962C8B-B14F-4D97-AF65-F5344CB8AC3E}">
        <p14:creationId xmlns:p14="http://schemas.microsoft.com/office/powerpoint/2010/main" val="4231593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BF4D49-CEDF-DE82-8E4E-AB2C6B4A922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9E0367-E35A-7798-7D75-97614C057E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B07FF3-BADD-8081-A2D5-64D46E7C80D8}"/>
              </a:ext>
            </a:extLst>
          </p:cNvPr>
          <p:cNvSpPr>
            <a:spLocks noGrp="1"/>
          </p:cNvSpPr>
          <p:nvPr>
            <p:ph type="dt" sz="half" idx="10"/>
          </p:nvPr>
        </p:nvSpPr>
        <p:spPr/>
        <p:txBody>
          <a:bodyPr/>
          <a:lstStyle/>
          <a:p>
            <a:fld id="{5428E72A-6C79-7C42-ACA1-0B76838F2411}" type="datetimeFigureOut">
              <a:rPr lang="en-US" smtClean="0"/>
              <a:t>7/1/26</a:t>
            </a:fld>
            <a:endParaRPr lang="en-US"/>
          </a:p>
        </p:txBody>
      </p:sp>
      <p:sp>
        <p:nvSpPr>
          <p:cNvPr id="5" name="Footer Placeholder 4">
            <a:extLst>
              <a:ext uri="{FF2B5EF4-FFF2-40B4-BE49-F238E27FC236}">
                <a16:creationId xmlns:a16="http://schemas.microsoft.com/office/drawing/2014/main" id="{B58F5237-FAE3-D1B5-17F7-08F402DD1B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F0C48C-385F-7920-E147-FC6FC7B79630}"/>
              </a:ext>
            </a:extLst>
          </p:cNvPr>
          <p:cNvSpPr>
            <a:spLocks noGrp="1"/>
          </p:cNvSpPr>
          <p:nvPr>
            <p:ph type="sldNum" sz="quarter" idx="12"/>
          </p:nvPr>
        </p:nvSpPr>
        <p:spPr/>
        <p:txBody>
          <a:bodyPr/>
          <a:lstStyle/>
          <a:p>
            <a:fld id="{288AF788-70CA-5B40-804E-9A4C4078BCB2}" type="slidenum">
              <a:rPr lang="en-US" smtClean="0"/>
              <a:t>‹#›</a:t>
            </a:fld>
            <a:endParaRPr lang="en-US"/>
          </a:p>
        </p:txBody>
      </p:sp>
    </p:spTree>
    <p:extLst>
      <p:ext uri="{BB962C8B-B14F-4D97-AF65-F5344CB8AC3E}">
        <p14:creationId xmlns:p14="http://schemas.microsoft.com/office/powerpoint/2010/main" val="1472412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5FFD30-E501-C1BE-2A92-D09615EB15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3E1EAD-8482-E27D-3881-FCDC7219C5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FF6178-2D01-B221-EBCB-759E174BCF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28E72A-6C79-7C42-ACA1-0B76838F2411}" type="datetimeFigureOut">
              <a:rPr lang="en-US" smtClean="0"/>
              <a:t>7/1/26</a:t>
            </a:fld>
            <a:endParaRPr lang="en-US"/>
          </a:p>
        </p:txBody>
      </p:sp>
      <p:sp>
        <p:nvSpPr>
          <p:cNvPr id="5" name="Footer Placeholder 4">
            <a:extLst>
              <a:ext uri="{FF2B5EF4-FFF2-40B4-BE49-F238E27FC236}">
                <a16:creationId xmlns:a16="http://schemas.microsoft.com/office/drawing/2014/main" id="{AC751CA8-0B3C-4EE7-9BED-0B630CDC88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1F33DB8-57C9-165D-747F-91367DF909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8AF788-70CA-5B40-804E-9A4C4078BCB2}" type="slidenum">
              <a:rPr lang="en-US" smtClean="0"/>
              <a:t>‹#›</a:t>
            </a:fld>
            <a:endParaRPr lang="en-US"/>
          </a:p>
        </p:txBody>
      </p:sp>
    </p:spTree>
    <p:extLst>
      <p:ext uri="{BB962C8B-B14F-4D97-AF65-F5344CB8AC3E}">
        <p14:creationId xmlns:p14="http://schemas.microsoft.com/office/powerpoint/2010/main" val="14156632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58120-67B2-0104-4BD7-8ECDD3A3AE1F}"/>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66824D48-1513-804D-324A-96A525917E13}"/>
              </a:ext>
            </a:extLst>
          </p:cNvPr>
          <p:cNvSpPr/>
          <p:nvPr/>
        </p:nvSpPr>
        <p:spPr>
          <a:xfrm>
            <a:off x="1654660" y="1201061"/>
            <a:ext cx="3765300" cy="3664892"/>
          </a:xfrm>
          <a:prstGeom prst="ellipse">
            <a:avLst/>
          </a:prstGeom>
          <a:gradFill flip="none" rotWithShape="1">
            <a:gsLst>
              <a:gs pos="0">
                <a:schemeClr val="bg1"/>
              </a:gs>
              <a:gs pos="50000">
                <a:schemeClr val="bg1"/>
              </a:gs>
              <a:gs pos="100000">
                <a:schemeClr val="accent5">
                  <a:lumMod val="40000"/>
                  <a:lumOff val="60000"/>
                  <a:alpha val="47000"/>
                </a:scheme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FF2EA177-4DAA-6C95-BBF6-1FD1AF6571A8}"/>
              </a:ext>
            </a:extLst>
          </p:cNvPr>
          <p:cNvSpPr/>
          <p:nvPr/>
        </p:nvSpPr>
        <p:spPr>
          <a:xfrm>
            <a:off x="6769536" y="1201061"/>
            <a:ext cx="3765300" cy="3664892"/>
          </a:xfrm>
          <a:prstGeom prst="ellipse">
            <a:avLst/>
          </a:prstGeom>
          <a:gradFill flip="none" rotWithShape="1">
            <a:gsLst>
              <a:gs pos="0">
                <a:schemeClr val="bg1"/>
              </a:gs>
              <a:gs pos="50000">
                <a:schemeClr val="bg1"/>
              </a:gs>
              <a:gs pos="100000">
                <a:schemeClr val="accent5">
                  <a:lumMod val="40000"/>
                  <a:lumOff val="60000"/>
                  <a:alpha val="47000"/>
                </a:scheme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bear with a heartbeat line&#10;&#10;AI-generated content may be incorrect.">
            <a:extLst>
              <a:ext uri="{FF2B5EF4-FFF2-40B4-BE49-F238E27FC236}">
                <a16:creationId xmlns:a16="http://schemas.microsoft.com/office/drawing/2014/main" id="{C3538C9F-ACA4-B923-767C-3886CDAD2F7E}"/>
              </a:ext>
            </a:extLst>
          </p:cNvPr>
          <p:cNvPicPr>
            <a:picLocks noChangeAspect="1"/>
          </p:cNvPicPr>
          <p:nvPr/>
        </p:nvPicPr>
        <p:blipFill>
          <a:blip r:embed="rId3"/>
          <a:srcRect l="3386" t="14001" r="4738" b="13999"/>
          <a:stretch>
            <a:fillRect/>
          </a:stretch>
        </p:blipFill>
        <p:spPr>
          <a:xfrm>
            <a:off x="494305" y="5590805"/>
            <a:ext cx="1317291" cy="1032310"/>
          </a:xfrm>
          <a:prstGeom prst="rect">
            <a:avLst/>
          </a:prstGeom>
        </p:spPr>
      </p:pic>
      <p:sp>
        <p:nvSpPr>
          <p:cNvPr id="13" name="Rectangle 12">
            <a:extLst>
              <a:ext uri="{FF2B5EF4-FFF2-40B4-BE49-F238E27FC236}">
                <a16:creationId xmlns:a16="http://schemas.microsoft.com/office/drawing/2014/main" id="{C69ED55D-209B-E64D-0153-30ABB4D029C3}"/>
              </a:ext>
            </a:extLst>
          </p:cNvPr>
          <p:cNvSpPr/>
          <p:nvPr/>
        </p:nvSpPr>
        <p:spPr>
          <a:xfrm>
            <a:off x="352697" y="5292090"/>
            <a:ext cx="1645920" cy="1331025"/>
          </a:xfrm>
          <a:prstGeom prst="rect">
            <a:avLst/>
          </a:prstGeom>
          <a:solidFill>
            <a:schemeClr val="bg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ABE3765-7D7F-92AA-9F73-09B76CB2D933}"/>
              </a:ext>
            </a:extLst>
          </p:cNvPr>
          <p:cNvSpPr/>
          <p:nvPr/>
        </p:nvSpPr>
        <p:spPr>
          <a:xfrm>
            <a:off x="1791244" y="2316532"/>
            <a:ext cx="3416712" cy="146808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Building clinical reasoning AI</a:t>
            </a:r>
          </a:p>
        </p:txBody>
      </p:sp>
      <p:sp>
        <p:nvSpPr>
          <p:cNvPr id="5" name="Rectangle 4">
            <a:extLst>
              <a:ext uri="{FF2B5EF4-FFF2-40B4-BE49-F238E27FC236}">
                <a16:creationId xmlns:a16="http://schemas.microsoft.com/office/drawing/2014/main" id="{BF8A1339-200F-4DE5-F4DD-86EC4B99CB31}"/>
              </a:ext>
            </a:extLst>
          </p:cNvPr>
          <p:cNvSpPr/>
          <p:nvPr/>
        </p:nvSpPr>
        <p:spPr>
          <a:xfrm>
            <a:off x="6943829" y="2162381"/>
            <a:ext cx="3416713" cy="17763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Evaluating clinical AI in use</a:t>
            </a:r>
          </a:p>
        </p:txBody>
      </p:sp>
    </p:spTree>
    <p:extLst>
      <p:ext uri="{BB962C8B-B14F-4D97-AF65-F5344CB8AC3E}">
        <p14:creationId xmlns:p14="http://schemas.microsoft.com/office/powerpoint/2010/main" val="3020183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0566E-116B-E642-25CC-97F13D8775EF}"/>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AACFBC59-1455-9AF1-432D-872694537ED6}"/>
              </a:ext>
            </a:extLst>
          </p:cNvPr>
          <p:cNvSpPr/>
          <p:nvPr/>
        </p:nvSpPr>
        <p:spPr>
          <a:xfrm>
            <a:off x="1654660" y="1201061"/>
            <a:ext cx="3765300" cy="3664892"/>
          </a:xfrm>
          <a:prstGeom prst="ellipse">
            <a:avLst/>
          </a:prstGeom>
          <a:gradFill flip="none" rotWithShape="1">
            <a:gsLst>
              <a:gs pos="0">
                <a:schemeClr val="bg1"/>
              </a:gs>
              <a:gs pos="50000">
                <a:schemeClr val="bg1"/>
              </a:gs>
              <a:gs pos="100000">
                <a:schemeClr val="accent5">
                  <a:lumMod val="40000"/>
                  <a:lumOff val="60000"/>
                  <a:alpha val="47000"/>
                </a:scheme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72C3FC9D-CC7C-6823-BDE0-D55195065C61}"/>
              </a:ext>
            </a:extLst>
          </p:cNvPr>
          <p:cNvSpPr/>
          <p:nvPr/>
        </p:nvSpPr>
        <p:spPr>
          <a:xfrm>
            <a:off x="6769536" y="1201061"/>
            <a:ext cx="3765300" cy="3664892"/>
          </a:xfrm>
          <a:prstGeom prst="ellipse">
            <a:avLst/>
          </a:prstGeom>
          <a:gradFill flip="none" rotWithShape="1">
            <a:gsLst>
              <a:gs pos="0">
                <a:schemeClr val="bg1"/>
              </a:gs>
              <a:gs pos="50000">
                <a:schemeClr val="bg1"/>
              </a:gs>
              <a:gs pos="100000">
                <a:schemeClr val="accent5">
                  <a:lumMod val="40000"/>
                  <a:lumOff val="60000"/>
                  <a:alpha val="47000"/>
                </a:scheme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BE88BCF-20EB-7ECC-5E7F-202A6DCC9228}"/>
              </a:ext>
            </a:extLst>
          </p:cNvPr>
          <p:cNvSpPr/>
          <p:nvPr/>
        </p:nvSpPr>
        <p:spPr>
          <a:xfrm>
            <a:off x="6943829" y="2162381"/>
            <a:ext cx="3416713" cy="17763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Evaluating clinical AI in use</a:t>
            </a:r>
          </a:p>
        </p:txBody>
      </p:sp>
      <p:pic>
        <p:nvPicPr>
          <p:cNvPr id="12" name="Picture 11" descr="A bear with a heartbeat line&#10;&#10;AI-generated content may be incorrect.">
            <a:extLst>
              <a:ext uri="{FF2B5EF4-FFF2-40B4-BE49-F238E27FC236}">
                <a16:creationId xmlns:a16="http://schemas.microsoft.com/office/drawing/2014/main" id="{4F8B4927-19B8-3928-2EEF-AE737076E3DA}"/>
              </a:ext>
            </a:extLst>
          </p:cNvPr>
          <p:cNvPicPr>
            <a:picLocks noChangeAspect="1"/>
          </p:cNvPicPr>
          <p:nvPr/>
        </p:nvPicPr>
        <p:blipFill>
          <a:blip r:embed="rId3"/>
          <a:srcRect l="3386" t="14001" r="4738" b="13999"/>
          <a:stretch>
            <a:fillRect/>
          </a:stretch>
        </p:blipFill>
        <p:spPr>
          <a:xfrm>
            <a:off x="494305" y="5590805"/>
            <a:ext cx="1317291" cy="1032310"/>
          </a:xfrm>
          <a:prstGeom prst="rect">
            <a:avLst/>
          </a:prstGeom>
        </p:spPr>
      </p:pic>
      <p:sp>
        <p:nvSpPr>
          <p:cNvPr id="13" name="Rectangle 12">
            <a:extLst>
              <a:ext uri="{FF2B5EF4-FFF2-40B4-BE49-F238E27FC236}">
                <a16:creationId xmlns:a16="http://schemas.microsoft.com/office/drawing/2014/main" id="{AF2ADAE1-0C3C-C0B6-4595-54DD25443C34}"/>
              </a:ext>
            </a:extLst>
          </p:cNvPr>
          <p:cNvSpPr/>
          <p:nvPr/>
        </p:nvSpPr>
        <p:spPr>
          <a:xfrm>
            <a:off x="352697" y="5292090"/>
            <a:ext cx="1645920" cy="1331025"/>
          </a:xfrm>
          <a:prstGeom prst="rect">
            <a:avLst/>
          </a:prstGeom>
          <a:solidFill>
            <a:schemeClr val="bg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D15115E-1ADE-C97D-FD48-9F6F9BADB4DA}"/>
              </a:ext>
            </a:extLst>
          </p:cNvPr>
          <p:cNvSpPr/>
          <p:nvPr/>
        </p:nvSpPr>
        <p:spPr>
          <a:xfrm>
            <a:off x="6095999" y="224308"/>
            <a:ext cx="5601695" cy="6398807"/>
          </a:xfrm>
          <a:prstGeom prst="rect">
            <a:avLst/>
          </a:prstGeom>
          <a:solidFill>
            <a:schemeClr val="bg1">
              <a:alpha val="9704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B6389DA-225C-071F-2B98-2A787AF5ED8C}"/>
              </a:ext>
            </a:extLst>
          </p:cNvPr>
          <p:cNvSpPr/>
          <p:nvPr/>
        </p:nvSpPr>
        <p:spPr>
          <a:xfrm>
            <a:off x="6682813" y="539274"/>
            <a:ext cx="4218052" cy="1155378"/>
          </a:xfrm>
          <a:prstGeom prst="rect">
            <a:avLst/>
          </a:prstGeom>
          <a:gradFill flip="none" rotWithShape="1">
            <a:gsLst>
              <a:gs pos="0">
                <a:schemeClr val="bg1"/>
              </a:gs>
              <a:gs pos="50000">
                <a:schemeClr val="bg1"/>
              </a:gs>
              <a:gs pos="100000">
                <a:srgbClr val="7030A0">
                  <a:alpha val="13923"/>
                </a:srgb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1AB05B6-16B9-C3ED-0440-0C35A742C48A}"/>
              </a:ext>
            </a:extLst>
          </p:cNvPr>
          <p:cNvSpPr/>
          <p:nvPr/>
        </p:nvSpPr>
        <p:spPr>
          <a:xfrm>
            <a:off x="6682813" y="4410072"/>
            <a:ext cx="4218052" cy="1270916"/>
          </a:xfrm>
          <a:prstGeom prst="rect">
            <a:avLst/>
          </a:prstGeom>
          <a:gradFill flip="none" rotWithShape="1">
            <a:gsLst>
              <a:gs pos="0">
                <a:schemeClr val="bg1"/>
              </a:gs>
              <a:gs pos="50000">
                <a:schemeClr val="bg1"/>
              </a:gs>
              <a:gs pos="100000">
                <a:srgbClr val="7030A0">
                  <a:alpha val="13923"/>
                </a:srgb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FF74166-B806-465C-CAFC-528FBCBE8197}"/>
              </a:ext>
            </a:extLst>
          </p:cNvPr>
          <p:cNvSpPr/>
          <p:nvPr/>
        </p:nvSpPr>
        <p:spPr>
          <a:xfrm>
            <a:off x="7289736" y="680367"/>
            <a:ext cx="3005578" cy="8996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Post-training and test-time scaling</a:t>
            </a:r>
          </a:p>
        </p:txBody>
      </p:sp>
      <p:sp>
        <p:nvSpPr>
          <p:cNvPr id="10" name="Rectangle 9">
            <a:extLst>
              <a:ext uri="{FF2B5EF4-FFF2-40B4-BE49-F238E27FC236}">
                <a16:creationId xmlns:a16="http://schemas.microsoft.com/office/drawing/2014/main" id="{40108155-089F-B33B-F3B9-40CEEAC9BB20}"/>
              </a:ext>
            </a:extLst>
          </p:cNvPr>
          <p:cNvSpPr/>
          <p:nvPr/>
        </p:nvSpPr>
        <p:spPr>
          <a:xfrm>
            <a:off x="6984437" y="4514465"/>
            <a:ext cx="3636750" cy="10886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Causal reasoning and world models</a:t>
            </a:r>
          </a:p>
        </p:txBody>
      </p:sp>
      <p:cxnSp>
        <p:nvCxnSpPr>
          <p:cNvPr id="14" name="Straight Arrow Connector 13">
            <a:extLst>
              <a:ext uri="{FF2B5EF4-FFF2-40B4-BE49-F238E27FC236}">
                <a16:creationId xmlns:a16="http://schemas.microsoft.com/office/drawing/2014/main" id="{6BE009DE-3F14-CE91-E85C-C6F236C3733E}"/>
              </a:ext>
            </a:extLst>
          </p:cNvPr>
          <p:cNvCxnSpPr>
            <a:cxnSpLocks/>
            <a:stCxn id="2" idx="7"/>
            <a:endCxn id="5" idx="1"/>
          </p:cNvCxnSpPr>
          <p:nvPr/>
        </p:nvCxnSpPr>
        <p:spPr>
          <a:xfrm flipV="1">
            <a:off x="4868545" y="1116963"/>
            <a:ext cx="1814268" cy="620809"/>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E34C66DB-080A-1AF1-1CF7-5BF2E23D3831}"/>
              </a:ext>
            </a:extLst>
          </p:cNvPr>
          <p:cNvCxnSpPr>
            <a:cxnSpLocks/>
            <a:stCxn id="2" idx="5"/>
            <a:endCxn id="6" idx="1"/>
          </p:cNvCxnSpPr>
          <p:nvPr/>
        </p:nvCxnSpPr>
        <p:spPr>
          <a:xfrm>
            <a:off x="4868545" y="4329242"/>
            <a:ext cx="1814268" cy="716288"/>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6C4C4F40-265D-3203-4E63-1AC3092ECB56}"/>
              </a:ext>
            </a:extLst>
          </p:cNvPr>
          <p:cNvSpPr/>
          <p:nvPr/>
        </p:nvSpPr>
        <p:spPr>
          <a:xfrm>
            <a:off x="1791244" y="2316532"/>
            <a:ext cx="3416712" cy="146808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Building clinical reasoning AI</a:t>
            </a:r>
          </a:p>
        </p:txBody>
      </p:sp>
    </p:spTree>
    <p:extLst>
      <p:ext uri="{BB962C8B-B14F-4D97-AF65-F5344CB8AC3E}">
        <p14:creationId xmlns:p14="http://schemas.microsoft.com/office/powerpoint/2010/main" val="1434950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DF07F-E12B-9BD3-5DB8-58D86F558404}"/>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2EE0F7BF-D1C9-299F-22B0-AD69A7826A5C}"/>
              </a:ext>
            </a:extLst>
          </p:cNvPr>
          <p:cNvSpPr/>
          <p:nvPr/>
        </p:nvSpPr>
        <p:spPr>
          <a:xfrm>
            <a:off x="1654660" y="1201061"/>
            <a:ext cx="3765300" cy="3664892"/>
          </a:xfrm>
          <a:prstGeom prst="ellipse">
            <a:avLst/>
          </a:prstGeom>
          <a:gradFill flip="none" rotWithShape="1">
            <a:gsLst>
              <a:gs pos="0">
                <a:schemeClr val="bg1"/>
              </a:gs>
              <a:gs pos="50000">
                <a:schemeClr val="bg1"/>
              </a:gs>
              <a:gs pos="100000">
                <a:schemeClr val="accent5">
                  <a:lumMod val="40000"/>
                  <a:lumOff val="60000"/>
                  <a:alpha val="47000"/>
                </a:scheme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1485030E-1557-9A3D-00F9-43BC54AF8D17}"/>
              </a:ext>
            </a:extLst>
          </p:cNvPr>
          <p:cNvSpPr/>
          <p:nvPr/>
        </p:nvSpPr>
        <p:spPr>
          <a:xfrm>
            <a:off x="6769536" y="1201061"/>
            <a:ext cx="3765300" cy="3664892"/>
          </a:xfrm>
          <a:prstGeom prst="ellipse">
            <a:avLst/>
          </a:prstGeom>
          <a:gradFill flip="none" rotWithShape="1">
            <a:gsLst>
              <a:gs pos="0">
                <a:schemeClr val="bg1"/>
              </a:gs>
              <a:gs pos="50000">
                <a:schemeClr val="bg1"/>
              </a:gs>
              <a:gs pos="100000">
                <a:schemeClr val="accent5">
                  <a:lumMod val="40000"/>
                  <a:lumOff val="60000"/>
                  <a:alpha val="47000"/>
                </a:scheme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46ED807-003D-3B54-014A-C4686E45829E}"/>
              </a:ext>
            </a:extLst>
          </p:cNvPr>
          <p:cNvSpPr/>
          <p:nvPr/>
        </p:nvSpPr>
        <p:spPr>
          <a:xfrm>
            <a:off x="6943829" y="2162381"/>
            <a:ext cx="3416713" cy="17763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Evaluating clinical AI in use</a:t>
            </a:r>
          </a:p>
        </p:txBody>
      </p:sp>
      <p:pic>
        <p:nvPicPr>
          <p:cNvPr id="12" name="Picture 11" descr="A bear with a heartbeat line&#10;&#10;AI-generated content may be incorrect.">
            <a:extLst>
              <a:ext uri="{FF2B5EF4-FFF2-40B4-BE49-F238E27FC236}">
                <a16:creationId xmlns:a16="http://schemas.microsoft.com/office/drawing/2014/main" id="{5F37FFE0-2814-4843-3BBE-67077EF0EE48}"/>
              </a:ext>
            </a:extLst>
          </p:cNvPr>
          <p:cNvPicPr>
            <a:picLocks noChangeAspect="1"/>
          </p:cNvPicPr>
          <p:nvPr/>
        </p:nvPicPr>
        <p:blipFill>
          <a:blip r:embed="rId3"/>
          <a:srcRect l="3386" t="14001" r="4738" b="13999"/>
          <a:stretch>
            <a:fillRect/>
          </a:stretch>
        </p:blipFill>
        <p:spPr>
          <a:xfrm>
            <a:off x="494305" y="5590805"/>
            <a:ext cx="1317291" cy="1032310"/>
          </a:xfrm>
          <a:prstGeom prst="rect">
            <a:avLst/>
          </a:prstGeom>
        </p:spPr>
      </p:pic>
      <p:sp>
        <p:nvSpPr>
          <p:cNvPr id="13" name="Rectangle 12">
            <a:extLst>
              <a:ext uri="{FF2B5EF4-FFF2-40B4-BE49-F238E27FC236}">
                <a16:creationId xmlns:a16="http://schemas.microsoft.com/office/drawing/2014/main" id="{A0CBD97D-49D2-96C6-4340-647B4738282A}"/>
              </a:ext>
            </a:extLst>
          </p:cNvPr>
          <p:cNvSpPr/>
          <p:nvPr/>
        </p:nvSpPr>
        <p:spPr>
          <a:xfrm>
            <a:off x="352697" y="5292090"/>
            <a:ext cx="1645920" cy="1331025"/>
          </a:xfrm>
          <a:prstGeom prst="rect">
            <a:avLst/>
          </a:prstGeom>
          <a:solidFill>
            <a:schemeClr val="bg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258C653-27BF-30CB-BDA7-7CB720582777}"/>
              </a:ext>
            </a:extLst>
          </p:cNvPr>
          <p:cNvSpPr/>
          <p:nvPr/>
        </p:nvSpPr>
        <p:spPr>
          <a:xfrm>
            <a:off x="6095999" y="224308"/>
            <a:ext cx="5601695" cy="6398807"/>
          </a:xfrm>
          <a:prstGeom prst="rect">
            <a:avLst/>
          </a:prstGeom>
          <a:solidFill>
            <a:schemeClr val="bg1">
              <a:alpha val="9704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69997B5-ED30-EDE0-BF97-2740615852DA}"/>
              </a:ext>
            </a:extLst>
          </p:cNvPr>
          <p:cNvSpPr/>
          <p:nvPr/>
        </p:nvSpPr>
        <p:spPr>
          <a:xfrm>
            <a:off x="6682813" y="539274"/>
            <a:ext cx="4218052" cy="1155378"/>
          </a:xfrm>
          <a:prstGeom prst="rect">
            <a:avLst/>
          </a:prstGeom>
          <a:gradFill flip="none" rotWithShape="1">
            <a:gsLst>
              <a:gs pos="0">
                <a:schemeClr val="bg1"/>
              </a:gs>
              <a:gs pos="50000">
                <a:schemeClr val="bg1"/>
              </a:gs>
              <a:gs pos="100000">
                <a:srgbClr val="7030A0">
                  <a:alpha val="13923"/>
                </a:srgb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BD84339-6031-9D23-74CF-A81AEC65F920}"/>
              </a:ext>
            </a:extLst>
          </p:cNvPr>
          <p:cNvSpPr/>
          <p:nvPr/>
        </p:nvSpPr>
        <p:spPr>
          <a:xfrm>
            <a:off x="7289736" y="680367"/>
            <a:ext cx="3005578" cy="8996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Post-training and test-time scaling</a:t>
            </a:r>
          </a:p>
        </p:txBody>
      </p:sp>
      <p:cxnSp>
        <p:nvCxnSpPr>
          <p:cNvPr id="14" name="Straight Arrow Connector 13">
            <a:extLst>
              <a:ext uri="{FF2B5EF4-FFF2-40B4-BE49-F238E27FC236}">
                <a16:creationId xmlns:a16="http://schemas.microsoft.com/office/drawing/2014/main" id="{3EC1F3BC-2889-5B9B-761E-EFF4105B31D5}"/>
              </a:ext>
            </a:extLst>
          </p:cNvPr>
          <p:cNvCxnSpPr>
            <a:cxnSpLocks/>
            <a:stCxn id="2" idx="7"/>
            <a:endCxn id="5" idx="1"/>
          </p:cNvCxnSpPr>
          <p:nvPr/>
        </p:nvCxnSpPr>
        <p:spPr>
          <a:xfrm flipV="1">
            <a:off x="4868545" y="1116963"/>
            <a:ext cx="1814268" cy="620809"/>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D38F1916-8524-D54D-FEEF-89DF95FC811A}"/>
              </a:ext>
            </a:extLst>
          </p:cNvPr>
          <p:cNvSpPr/>
          <p:nvPr/>
        </p:nvSpPr>
        <p:spPr>
          <a:xfrm>
            <a:off x="7052744" y="2316532"/>
            <a:ext cx="3485994" cy="789139"/>
          </a:xfrm>
          <a:prstGeom prst="rect">
            <a:avLst/>
          </a:prstGeom>
          <a:solidFill>
            <a:srgbClr val="FAED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RL from clinician feedback</a:t>
            </a:r>
          </a:p>
        </p:txBody>
      </p:sp>
      <p:cxnSp>
        <p:nvCxnSpPr>
          <p:cNvPr id="18" name="Straight Arrow Connector 17">
            <a:extLst>
              <a:ext uri="{FF2B5EF4-FFF2-40B4-BE49-F238E27FC236}">
                <a16:creationId xmlns:a16="http://schemas.microsoft.com/office/drawing/2014/main" id="{4B204D81-0DCF-00E8-E466-16A0FAFCF077}"/>
              </a:ext>
            </a:extLst>
          </p:cNvPr>
          <p:cNvCxnSpPr>
            <a:cxnSpLocks/>
            <a:stCxn id="5" idx="2"/>
            <a:endCxn id="11" idx="0"/>
          </p:cNvCxnSpPr>
          <p:nvPr/>
        </p:nvCxnSpPr>
        <p:spPr>
          <a:xfrm>
            <a:off x="8791839" y="1694652"/>
            <a:ext cx="3902" cy="621880"/>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CED2899A-50F7-3398-D6E8-AB413F91727E}"/>
              </a:ext>
            </a:extLst>
          </p:cNvPr>
          <p:cNvSpPr/>
          <p:nvPr/>
        </p:nvSpPr>
        <p:spPr>
          <a:xfrm>
            <a:off x="7064598" y="4406498"/>
            <a:ext cx="3485994" cy="789139"/>
          </a:xfrm>
          <a:prstGeom prst="rect">
            <a:avLst/>
          </a:prstGeom>
          <a:solidFill>
            <a:srgbClr val="FAED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Test-time clinical reasoning</a:t>
            </a:r>
          </a:p>
        </p:txBody>
      </p:sp>
      <p:sp>
        <p:nvSpPr>
          <p:cNvPr id="20" name="Rectangle 19">
            <a:extLst>
              <a:ext uri="{FF2B5EF4-FFF2-40B4-BE49-F238E27FC236}">
                <a16:creationId xmlns:a16="http://schemas.microsoft.com/office/drawing/2014/main" id="{2E34EBA6-6AA2-A4AE-F039-FA6C35B14502}"/>
              </a:ext>
            </a:extLst>
          </p:cNvPr>
          <p:cNvSpPr/>
          <p:nvPr/>
        </p:nvSpPr>
        <p:spPr>
          <a:xfrm>
            <a:off x="7064598" y="3357012"/>
            <a:ext cx="3485994" cy="789139"/>
          </a:xfrm>
          <a:prstGeom prst="rect">
            <a:avLst/>
          </a:prstGeom>
          <a:solidFill>
            <a:srgbClr val="FAED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Multimodal alignment</a:t>
            </a:r>
          </a:p>
        </p:txBody>
      </p:sp>
      <p:sp>
        <p:nvSpPr>
          <p:cNvPr id="10" name="Rectangle 9">
            <a:extLst>
              <a:ext uri="{FF2B5EF4-FFF2-40B4-BE49-F238E27FC236}">
                <a16:creationId xmlns:a16="http://schemas.microsoft.com/office/drawing/2014/main" id="{31C480D8-CD3C-A0A9-DA58-6680ED97BEF2}"/>
              </a:ext>
            </a:extLst>
          </p:cNvPr>
          <p:cNvSpPr/>
          <p:nvPr/>
        </p:nvSpPr>
        <p:spPr>
          <a:xfrm>
            <a:off x="1791244" y="2316532"/>
            <a:ext cx="3416712" cy="146808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Building clinical reasoning AI</a:t>
            </a:r>
          </a:p>
        </p:txBody>
      </p:sp>
    </p:spTree>
    <p:extLst>
      <p:ext uri="{BB962C8B-B14F-4D97-AF65-F5344CB8AC3E}">
        <p14:creationId xmlns:p14="http://schemas.microsoft.com/office/powerpoint/2010/main" val="121113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56C01-F2E4-4AB4-D834-42F0133F7260}"/>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F107DEF1-70DD-7614-F51E-46EFFB1E44E0}"/>
              </a:ext>
            </a:extLst>
          </p:cNvPr>
          <p:cNvSpPr/>
          <p:nvPr/>
        </p:nvSpPr>
        <p:spPr>
          <a:xfrm>
            <a:off x="1654660" y="1201061"/>
            <a:ext cx="3765300" cy="3664892"/>
          </a:xfrm>
          <a:prstGeom prst="ellipse">
            <a:avLst/>
          </a:prstGeom>
          <a:gradFill flip="none" rotWithShape="1">
            <a:gsLst>
              <a:gs pos="0">
                <a:schemeClr val="bg1"/>
              </a:gs>
              <a:gs pos="50000">
                <a:schemeClr val="bg1"/>
              </a:gs>
              <a:gs pos="100000">
                <a:schemeClr val="accent5">
                  <a:lumMod val="40000"/>
                  <a:lumOff val="60000"/>
                  <a:alpha val="47000"/>
                </a:scheme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67872060-6E91-76D4-C62E-B6667534DF65}"/>
              </a:ext>
            </a:extLst>
          </p:cNvPr>
          <p:cNvSpPr/>
          <p:nvPr/>
        </p:nvSpPr>
        <p:spPr>
          <a:xfrm>
            <a:off x="6769536" y="1201061"/>
            <a:ext cx="3765300" cy="3664892"/>
          </a:xfrm>
          <a:prstGeom prst="ellipse">
            <a:avLst/>
          </a:prstGeom>
          <a:gradFill flip="none" rotWithShape="1">
            <a:gsLst>
              <a:gs pos="0">
                <a:schemeClr val="bg1"/>
              </a:gs>
              <a:gs pos="50000">
                <a:schemeClr val="bg1"/>
              </a:gs>
              <a:gs pos="100000">
                <a:schemeClr val="accent5">
                  <a:lumMod val="40000"/>
                  <a:lumOff val="60000"/>
                  <a:alpha val="47000"/>
                </a:scheme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DA9D6C1-492E-EC77-D226-7ECDDD277EE0}"/>
              </a:ext>
            </a:extLst>
          </p:cNvPr>
          <p:cNvSpPr/>
          <p:nvPr/>
        </p:nvSpPr>
        <p:spPr>
          <a:xfrm>
            <a:off x="6943829" y="2162381"/>
            <a:ext cx="3416713" cy="17763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Evaluating clinical AI in use</a:t>
            </a:r>
          </a:p>
        </p:txBody>
      </p:sp>
      <p:pic>
        <p:nvPicPr>
          <p:cNvPr id="12" name="Picture 11" descr="A bear with a heartbeat line&#10;&#10;AI-generated content may be incorrect.">
            <a:extLst>
              <a:ext uri="{FF2B5EF4-FFF2-40B4-BE49-F238E27FC236}">
                <a16:creationId xmlns:a16="http://schemas.microsoft.com/office/drawing/2014/main" id="{A4547DD1-3C07-8C2D-AC6F-47780E05ACD0}"/>
              </a:ext>
            </a:extLst>
          </p:cNvPr>
          <p:cNvPicPr>
            <a:picLocks noChangeAspect="1"/>
          </p:cNvPicPr>
          <p:nvPr/>
        </p:nvPicPr>
        <p:blipFill>
          <a:blip r:embed="rId3"/>
          <a:srcRect l="3386" t="14001" r="4738" b="13999"/>
          <a:stretch>
            <a:fillRect/>
          </a:stretch>
        </p:blipFill>
        <p:spPr>
          <a:xfrm>
            <a:off x="494305" y="5590805"/>
            <a:ext cx="1317291" cy="1032310"/>
          </a:xfrm>
          <a:prstGeom prst="rect">
            <a:avLst/>
          </a:prstGeom>
        </p:spPr>
      </p:pic>
      <p:sp>
        <p:nvSpPr>
          <p:cNvPr id="13" name="Rectangle 12">
            <a:extLst>
              <a:ext uri="{FF2B5EF4-FFF2-40B4-BE49-F238E27FC236}">
                <a16:creationId xmlns:a16="http://schemas.microsoft.com/office/drawing/2014/main" id="{C6AFC13B-267D-BBF2-105C-87DC84B1B6BF}"/>
              </a:ext>
            </a:extLst>
          </p:cNvPr>
          <p:cNvSpPr/>
          <p:nvPr/>
        </p:nvSpPr>
        <p:spPr>
          <a:xfrm>
            <a:off x="352697" y="5292090"/>
            <a:ext cx="1645920" cy="1331025"/>
          </a:xfrm>
          <a:prstGeom prst="rect">
            <a:avLst/>
          </a:prstGeom>
          <a:solidFill>
            <a:schemeClr val="bg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B4BDCAC-31D8-7C41-2083-03A0BC09BFE7}"/>
              </a:ext>
            </a:extLst>
          </p:cNvPr>
          <p:cNvSpPr/>
          <p:nvPr/>
        </p:nvSpPr>
        <p:spPr>
          <a:xfrm>
            <a:off x="6095999" y="224308"/>
            <a:ext cx="5601695" cy="6398807"/>
          </a:xfrm>
          <a:prstGeom prst="rect">
            <a:avLst/>
          </a:prstGeom>
          <a:solidFill>
            <a:schemeClr val="bg1">
              <a:alpha val="9704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0286FC2-A52D-6FF0-CA43-118546370DAF}"/>
              </a:ext>
            </a:extLst>
          </p:cNvPr>
          <p:cNvSpPr/>
          <p:nvPr/>
        </p:nvSpPr>
        <p:spPr>
          <a:xfrm>
            <a:off x="6682813" y="4410072"/>
            <a:ext cx="4218052" cy="1270916"/>
          </a:xfrm>
          <a:prstGeom prst="rect">
            <a:avLst/>
          </a:prstGeom>
          <a:gradFill flip="none" rotWithShape="1">
            <a:gsLst>
              <a:gs pos="0">
                <a:schemeClr val="bg1"/>
              </a:gs>
              <a:gs pos="50000">
                <a:schemeClr val="bg1"/>
              </a:gs>
              <a:gs pos="100000">
                <a:srgbClr val="7030A0">
                  <a:alpha val="13923"/>
                </a:srgb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1C988E9-4629-4A12-53B6-C4EAA0006561}"/>
              </a:ext>
            </a:extLst>
          </p:cNvPr>
          <p:cNvSpPr/>
          <p:nvPr/>
        </p:nvSpPr>
        <p:spPr>
          <a:xfrm>
            <a:off x="6984437" y="4514465"/>
            <a:ext cx="3636750" cy="10886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Causal reasoning and world models</a:t>
            </a:r>
          </a:p>
        </p:txBody>
      </p:sp>
      <p:cxnSp>
        <p:nvCxnSpPr>
          <p:cNvPr id="15" name="Straight Arrow Connector 14">
            <a:extLst>
              <a:ext uri="{FF2B5EF4-FFF2-40B4-BE49-F238E27FC236}">
                <a16:creationId xmlns:a16="http://schemas.microsoft.com/office/drawing/2014/main" id="{AA76E03F-56E0-ADCF-BE1D-07BFA692CDE3}"/>
              </a:ext>
            </a:extLst>
          </p:cNvPr>
          <p:cNvCxnSpPr>
            <a:cxnSpLocks/>
            <a:endCxn id="6" idx="1"/>
          </p:cNvCxnSpPr>
          <p:nvPr/>
        </p:nvCxnSpPr>
        <p:spPr>
          <a:xfrm>
            <a:off x="4868545" y="4329242"/>
            <a:ext cx="1814268" cy="716288"/>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9C40E2E9-75E8-6A6B-2F0E-210E0DFB268F}"/>
              </a:ext>
            </a:extLst>
          </p:cNvPr>
          <p:cNvSpPr/>
          <p:nvPr/>
        </p:nvSpPr>
        <p:spPr>
          <a:xfrm>
            <a:off x="7044425" y="1956849"/>
            <a:ext cx="3483864" cy="786384"/>
          </a:xfrm>
          <a:prstGeom prst="rect">
            <a:avLst/>
          </a:prstGeom>
          <a:solidFill>
            <a:srgbClr val="FAED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AI for causal effect estimation</a:t>
            </a:r>
          </a:p>
        </p:txBody>
      </p:sp>
      <p:sp>
        <p:nvSpPr>
          <p:cNvPr id="21" name="Rectangle 20">
            <a:extLst>
              <a:ext uri="{FF2B5EF4-FFF2-40B4-BE49-F238E27FC236}">
                <a16:creationId xmlns:a16="http://schemas.microsoft.com/office/drawing/2014/main" id="{1806AE46-244E-CC5A-2719-7FD3B64D3646}"/>
              </a:ext>
            </a:extLst>
          </p:cNvPr>
          <p:cNvSpPr/>
          <p:nvPr/>
        </p:nvSpPr>
        <p:spPr>
          <a:xfrm>
            <a:off x="7044425" y="3003740"/>
            <a:ext cx="3483864" cy="786384"/>
          </a:xfrm>
          <a:prstGeom prst="rect">
            <a:avLst/>
          </a:prstGeom>
          <a:solidFill>
            <a:srgbClr val="FAED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Clinical world models and digital twins</a:t>
            </a:r>
          </a:p>
        </p:txBody>
      </p:sp>
      <p:cxnSp>
        <p:nvCxnSpPr>
          <p:cNvPr id="22" name="Straight Arrow Connector 21">
            <a:extLst>
              <a:ext uri="{FF2B5EF4-FFF2-40B4-BE49-F238E27FC236}">
                <a16:creationId xmlns:a16="http://schemas.microsoft.com/office/drawing/2014/main" id="{5C15FADA-1F6A-7DF7-4430-285C8E9E0E03}"/>
              </a:ext>
            </a:extLst>
          </p:cNvPr>
          <p:cNvCxnSpPr>
            <a:cxnSpLocks/>
            <a:stCxn id="6" idx="0"/>
            <a:endCxn id="21" idx="2"/>
          </p:cNvCxnSpPr>
          <p:nvPr/>
        </p:nvCxnSpPr>
        <p:spPr>
          <a:xfrm flipH="1" flipV="1">
            <a:off x="8786357" y="3790124"/>
            <a:ext cx="5482" cy="619948"/>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586C01E1-03CF-5F3B-3FF3-311AE5B9389D}"/>
              </a:ext>
            </a:extLst>
          </p:cNvPr>
          <p:cNvSpPr/>
          <p:nvPr/>
        </p:nvSpPr>
        <p:spPr>
          <a:xfrm>
            <a:off x="1791244" y="2316532"/>
            <a:ext cx="3416712" cy="146808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Building clinical reasoning AI</a:t>
            </a:r>
          </a:p>
        </p:txBody>
      </p:sp>
    </p:spTree>
    <p:extLst>
      <p:ext uri="{BB962C8B-B14F-4D97-AF65-F5344CB8AC3E}">
        <p14:creationId xmlns:p14="http://schemas.microsoft.com/office/powerpoint/2010/main" val="1769786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154D4-C0BF-80CF-4253-B2B07B792DAF}"/>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1F609547-5CED-0912-3A12-5E037015498A}"/>
              </a:ext>
            </a:extLst>
          </p:cNvPr>
          <p:cNvSpPr/>
          <p:nvPr/>
        </p:nvSpPr>
        <p:spPr>
          <a:xfrm>
            <a:off x="1654660" y="1201061"/>
            <a:ext cx="3765300" cy="3664892"/>
          </a:xfrm>
          <a:prstGeom prst="ellipse">
            <a:avLst/>
          </a:prstGeom>
          <a:gradFill flip="none" rotWithShape="1">
            <a:gsLst>
              <a:gs pos="0">
                <a:schemeClr val="bg1"/>
              </a:gs>
              <a:gs pos="50000">
                <a:schemeClr val="bg1"/>
              </a:gs>
              <a:gs pos="100000">
                <a:schemeClr val="accent5">
                  <a:lumMod val="40000"/>
                  <a:lumOff val="60000"/>
                  <a:alpha val="47000"/>
                </a:scheme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5CE80241-E5C3-2700-2A07-DFF07A1649E6}"/>
              </a:ext>
            </a:extLst>
          </p:cNvPr>
          <p:cNvSpPr/>
          <p:nvPr/>
        </p:nvSpPr>
        <p:spPr>
          <a:xfrm>
            <a:off x="6769536" y="1201061"/>
            <a:ext cx="3765300" cy="3664892"/>
          </a:xfrm>
          <a:prstGeom prst="ellipse">
            <a:avLst/>
          </a:prstGeom>
          <a:gradFill flip="none" rotWithShape="1">
            <a:gsLst>
              <a:gs pos="0">
                <a:schemeClr val="bg1"/>
              </a:gs>
              <a:gs pos="50000">
                <a:schemeClr val="bg1"/>
              </a:gs>
              <a:gs pos="100000">
                <a:schemeClr val="accent5">
                  <a:lumMod val="40000"/>
                  <a:lumOff val="60000"/>
                  <a:alpha val="47000"/>
                </a:scheme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50F55D8-8963-2557-49E4-2FC8531ADD57}"/>
              </a:ext>
            </a:extLst>
          </p:cNvPr>
          <p:cNvSpPr/>
          <p:nvPr/>
        </p:nvSpPr>
        <p:spPr>
          <a:xfrm>
            <a:off x="1791244" y="2316532"/>
            <a:ext cx="3416712" cy="146808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Building clinical reasoning AI</a:t>
            </a:r>
          </a:p>
        </p:txBody>
      </p:sp>
      <p:pic>
        <p:nvPicPr>
          <p:cNvPr id="12" name="Picture 11" descr="A bear with a heartbeat line&#10;&#10;AI-generated content may be incorrect.">
            <a:extLst>
              <a:ext uri="{FF2B5EF4-FFF2-40B4-BE49-F238E27FC236}">
                <a16:creationId xmlns:a16="http://schemas.microsoft.com/office/drawing/2014/main" id="{60E86FA2-A8C3-67DC-844B-1B7059848993}"/>
              </a:ext>
            </a:extLst>
          </p:cNvPr>
          <p:cNvPicPr>
            <a:picLocks noChangeAspect="1"/>
          </p:cNvPicPr>
          <p:nvPr/>
        </p:nvPicPr>
        <p:blipFill>
          <a:blip r:embed="rId3"/>
          <a:srcRect l="3386" t="14001" r="4738" b="13999"/>
          <a:stretch>
            <a:fillRect/>
          </a:stretch>
        </p:blipFill>
        <p:spPr>
          <a:xfrm>
            <a:off x="494305" y="5590805"/>
            <a:ext cx="1317291" cy="1032310"/>
          </a:xfrm>
          <a:prstGeom prst="rect">
            <a:avLst/>
          </a:prstGeom>
        </p:spPr>
      </p:pic>
      <p:sp>
        <p:nvSpPr>
          <p:cNvPr id="13" name="Rectangle 12">
            <a:extLst>
              <a:ext uri="{FF2B5EF4-FFF2-40B4-BE49-F238E27FC236}">
                <a16:creationId xmlns:a16="http://schemas.microsoft.com/office/drawing/2014/main" id="{9966C172-9092-E26A-2963-D9E2BBB12E0B}"/>
              </a:ext>
            </a:extLst>
          </p:cNvPr>
          <p:cNvSpPr/>
          <p:nvPr/>
        </p:nvSpPr>
        <p:spPr>
          <a:xfrm>
            <a:off x="352697" y="5292090"/>
            <a:ext cx="1645920" cy="1331025"/>
          </a:xfrm>
          <a:prstGeom prst="rect">
            <a:avLst/>
          </a:prstGeom>
          <a:solidFill>
            <a:schemeClr val="bg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9AF48D7-F97F-72D6-48EB-64C134DBDE51}"/>
              </a:ext>
            </a:extLst>
          </p:cNvPr>
          <p:cNvSpPr/>
          <p:nvPr/>
        </p:nvSpPr>
        <p:spPr>
          <a:xfrm>
            <a:off x="736462" y="351629"/>
            <a:ext cx="5601695" cy="4940461"/>
          </a:xfrm>
          <a:prstGeom prst="rect">
            <a:avLst/>
          </a:prstGeom>
          <a:solidFill>
            <a:schemeClr val="bg1">
              <a:alpha val="9704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6CA4A132-2560-D44C-3F31-5F411A741170}"/>
              </a:ext>
            </a:extLst>
          </p:cNvPr>
          <p:cNvCxnSpPr>
            <a:cxnSpLocks/>
            <a:endCxn id="14" idx="3"/>
          </p:cNvCxnSpPr>
          <p:nvPr/>
        </p:nvCxnSpPr>
        <p:spPr>
          <a:xfrm flipH="1" flipV="1">
            <a:off x="5529701" y="1160083"/>
            <a:ext cx="1508006" cy="961320"/>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CDADFF6E-F58E-7E60-46D8-DDA9DEB98D39}"/>
              </a:ext>
            </a:extLst>
          </p:cNvPr>
          <p:cNvSpPr/>
          <p:nvPr/>
        </p:nvSpPr>
        <p:spPr>
          <a:xfrm>
            <a:off x="1311649" y="582394"/>
            <a:ext cx="4218052" cy="1155378"/>
          </a:xfrm>
          <a:prstGeom prst="rect">
            <a:avLst/>
          </a:prstGeom>
          <a:gradFill flip="none" rotWithShape="1">
            <a:gsLst>
              <a:gs pos="0">
                <a:schemeClr val="bg1"/>
              </a:gs>
              <a:gs pos="50000">
                <a:schemeClr val="bg1"/>
              </a:gs>
              <a:gs pos="100000">
                <a:srgbClr val="7030A0">
                  <a:alpha val="13923"/>
                </a:srgb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E167E85-6F3C-7A27-0A7B-7EEDDE5D4AD1}"/>
              </a:ext>
            </a:extLst>
          </p:cNvPr>
          <p:cNvSpPr/>
          <p:nvPr/>
        </p:nvSpPr>
        <p:spPr>
          <a:xfrm>
            <a:off x="1602986" y="723487"/>
            <a:ext cx="3636750" cy="8996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Human evaluation with clinicians</a:t>
            </a:r>
          </a:p>
        </p:txBody>
      </p:sp>
      <p:cxnSp>
        <p:nvCxnSpPr>
          <p:cNvPr id="23" name="Straight Arrow Connector 22">
            <a:extLst>
              <a:ext uri="{FF2B5EF4-FFF2-40B4-BE49-F238E27FC236}">
                <a16:creationId xmlns:a16="http://schemas.microsoft.com/office/drawing/2014/main" id="{D80A46AC-59AB-6592-1E1C-95684D14ABA1}"/>
              </a:ext>
            </a:extLst>
          </p:cNvPr>
          <p:cNvCxnSpPr>
            <a:cxnSpLocks/>
          </p:cNvCxnSpPr>
          <p:nvPr/>
        </p:nvCxnSpPr>
        <p:spPr>
          <a:xfrm flipH="1">
            <a:off x="5529701" y="3979747"/>
            <a:ext cx="1508006" cy="700611"/>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8BEA4D78-4F68-63A6-06A4-CF73F187AB8C}"/>
              </a:ext>
            </a:extLst>
          </p:cNvPr>
          <p:cNvSpPr/>
          <p:nvPr/>
        </p:nvSpPr>
        <p:spPr>
          <a:xfrm>
            <a:off x="1311649" y="3814675"/>
            <a:ext cx="4218052" cy="1270916"/>
          </a:xfrm>
          <a:prstGeom prst="rect">
            <a:avLst/>
          </a:prstGeom>
          <a:gradFill flip="none" rotWithShape="1">
            <a:gsLst>
              <a:gs pos="0">
                <a:schemeClr val="bg1"/>
              </a:gs>
              <a:gs pos="50000">
                <a:schemeClr val="bg1"/>
              </a:gs>
              <a:gs pos="100000">
                <a:srgbClr val="7030A0">
                  <a:alpha val="13923"/>
                </a:srgb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DE71A09-D865-038A-EDA9-A68070CDF74D}"/>
              </a:ext>
            </a:extLst>
          </p:cNvPr>
          <p:cNvSpPr/>
          <p:nvPr/>
        </p:nvSpPr>
        <p:spPr>
          <a:xfrm>
            <a:off x="1613273" y="3919068"/>
            <a:ext cx="3636750" cy="10886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Scalable automatic evaluation</a:t>
            </a:r>
          </a:p>
        </p:txBody>
      </p:sp>
      <p:sp>
        <p:nvSpPr>
          <p:cNvPr id="6" name="Rectangle 5">
            <a:extLst>
              <a:ext uri="{FF2B5EF4-FFF2-40B4-BE49-F238E27FC236}">
                <a16:creationId xmlns:a16="http://schemas.microsoft.com/office/drawing/2014/main" id="{102DB1B6-30CC-F8FC-DC85-5DF3ACC2A509}"/>
              </a:ext>
            </a:extLst>
          </p:cNvPr>
          <p:cNvSpPr/>
          <p:nvPr/>
        </p:nvSpPr>
        <p:spPr>
          <a:xfrm>
            <a:off x="6943829" y="2162381"/>
            <a:ext cx="3416713" cy="17763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Evaluating clinical AI in use</a:t>
            </a:r>
          </a:p>
        </p:txBody>
      </p:sp>
    </p:spTree>
    <p:extLst>
      <p:ext uri="{BB962C8B-B14F-4D97-AF65-F5344CB8AC3E}">
        <p14:creationId xmlns:p14="http://schemas.microsoft.com/office/powerpoint/2010/main" val="141807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05FAE-8AF5-5663-82CF-60F0333A123D}"/>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E0357FCC-3DF9-DFD8-54A4-A5E31E07401E}"/>
              </a:ext>
            </a:extLst>
          </p:cNvPr>
          <p:cNvSpPr/>
          <p:nvPr/>
        </p:nvSpPr>
        <p:spPr>
          <a:xfrm>
            <a:off x="1654660" y="1201061"/>
            <a:ext cx="3765300" cy="3664892"/>
          </a:xfrm>
          <a:prstGeom prst="ellipse">
            <a:avLst/>
          </a:prstGeom>
          <a:gradFill flip="none" rotWithShape="1">
            <a:gsLst>
              <a:gs pos="0">
                <a:schemeClr val="bg1"/>
              </a:gs>
              <a:gs pos="50000">
                <a:schemeClr val="bg1"/>
              </a:gs>
              <a:gs pos="100000">
                <a:schemeClr val="accent5">
                  <a:lumMod val="40000"/>
                  <a:lumOff val="60000"/>
                  <a:alpha val="47000"/>
                </a:scheme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2B7FB7CE-44DB-87EB-FE28-E0D4CDC47CBE}"/>
              </a:ext>
            </a:extLst>
          </p:cNvPr>
          <p:cNvSpPr/>
          <p:nvPr/>
        </p:nvSpPr>
        <p:spPr>
          <a:xfrm>
            <a:off x="6769536" y="1201061"/>
            <a:ext cx="3765300" cy="3664892"/>
          </a:xfrm>
          <a:prstGeom prst="ellipse">
            <a:avLst/>
          </a:prstGeom>
          <a:gradFill flip="none" rotWithShape="1">
            <a:gsLst>
              <a:gs pos="0">
                <a:schemeClr val="bg1"/>
              </a:gs>
              <a:gs pos="50000">
                <a:schemeClr val="bg1"/>
              </a:gs>
              <a:gs pos="100000">
                <a:schemeClr val="accent5">
                  <a:lumMod val="40000"/>
                  <a:lumOff val="60000"/>
                  <a:alpha val="47000"/>
                </a:scheme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ACB393E-1747-0619-5237-2F447AEA9AC0}"/>
              </a:ext>
            </a:extLst>
          </p:cNvPr>
          <p:cNvSpPr/>
          <p:nvPr/>
        </p:nvSpPr>
        <p:spPr>
          <a:xfrm>
            <a:off x="1791244" y="2316532"/>
            <a:ext cx="3416712" cy="146808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Building clinical reasoning AI</a:t>
            </a:r>
          </a:p>
        </p:txBody>
      </p:sp>
      <p:pic>
        <p:nvPicPr>
          <p:cNvPr id="12" name="Picture 11" descr="A bear with a heartbeat line&#10;&#10;AI-generated content may be incorrect.">
            <a:extLst>
              <a:ext uri="{FF2B5EF4-FFF2-40B4-BE49-F238E27FC236}">
                <a16:creationId xmlns:a16="http://schemas.microsoft.com/office/drawing/2014/main" id="{58C76A29-8795-6C78-3800-32549487C2F9}"/>
              </a:ext>
            </a:extLst>
          </p:cNvPr>
          <p:cNvPicPr>
            <a:picLocks noChangeAspect="1"/>
          </p:cNvPicPr>
          <p:nvPr/>
        </p:nvPicPr>
        <p:blipFill>
          <a:blip r:embed="rId3"/>
          <a:srcRect l="3386" t="14001" r="4738" b="13999"/>
          <a:stretch>
            <a:fillRect/>
          </a:stretch>
        </p:blipFill>
        <p:spPr>
          <a:xfrm>
            <a:off x="494305" y="5590805"/>
            <a:ext cx="1317291" cy="1032310"/>
          </a:xfrm>
          <a:prstGeom prst="rect">
            <a:avLst/>
          </a:prstGeom>
        </p:spPr>
      </p:pic>
      <p:sp>
        <p:nvSpPr>
          <p:cNvPr id="13" name="Rectangle 12">
            <a:extLst>
              <a:ext uri="{FF2B5EF4-FFF2-40B4-BE49-F238E27FC236}">
                <a16:creationId xmlns:a16="http://schemas.microsoft.com/office/drawing/2014/main" id="{9C209B7C-8077-912A-1F89-89CB818F51EA}"/>
              </a:ext>
            </a:extLst>
          </p:cNvPr>
          <p:cNvSpPr/>
          <p:nvPr/>
        </p:nvSpPr>
        <p:spPr>
          <a:xfrm>
            <a:off x="352697" y="5292090"/>
            <a:ext cx="1645920" cy="1331025"/>
          </a:xfrm>
          <a:prstGeom prst="rect">
            <a:avLst/>
          </a:prstGeom>
          <a:solidFill>
            <a:schemeClr val="bg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C930CF2-E92A-2CDC-1044-BD275A17DC19}"/>
              </a:ext>
            </a:extLst>
          </p:cNvPr>
          <p:cNvSpPr/>
          <p:nvPr/>
        </p:nvSpPr>
        <p:spPr>
          <a:xfrm>
            <a:off x="736462" y="351629"/>
            <a:ext cx="5601695" cy="4940461"/>
          </a:xfrm>
          <a:prstGeom prst="rect">
            <a:avLst/>
          </a:prstGeom>
          <a:solidFill>
            <a:schemeClr val="bg1">
              <a:alpha val="9704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EB35DD4E-28AE-3F2D-C03A-A5BCDB6459EA}"/>
              </a:ext>
            </a:extLst>
          </p:cNvPr>
          <p:cNvCxnSpPr>
            <a:cxnSpLocks/>
            <a:endCxn id="14" idx="3"/>
          </p:cNvCxnSpPr>
          <p:nvPr/>
        </p:nvCxnSpPr>
        <p:spPr>
          <a:xfrm flipH="1" flipV="1">
            <a:off x="5529701" y="1160083"/>
            <a:ext cx="1508006" cy="961320"/>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94F72710-7CEF-6AB8-F0A4-D381F0C4D0C5}"/>
              </a:ext>
            </a:extLst>
          </p:cNvPr>
          <p:cNvSpPr/>
          <p:nvPr/>
        </p:nvSpPr>
        <p:spPr>
          <a:xfrm>
            <a:off x="1311649" y="582394"/>
            <a:ext cx="4218052" cy="1155378"/>
          </a:xfrm>
          <a:prstGeom prst="rect">
            <a:avLst/>
          </a:prstGeom>
          <a:gradFill flip="none" rotWithShape="1">
            <a:gsLst>
              <a:gs pos="0">
                <a:schemeClr val="bg1"/>
              </a:gs>
              <a:gs pos="50000">
                <a:schemeClr val="bg1"/>
              </a:gs>
              <a:gs pos="100000">
                <a:srgbClr val="7030A0">
                  <a:alpha val="13923"/>
                </a:srgb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67023F3-EE87-717E-BDED-E57B477B2588}"/>
              </a:ext>
            </a:extLst>
          </p:cNvPr>
          <p:cNvSpPr/>
          <p:nvPr/>
        </p:nvSpPr>
        <p:spPr>
          <a:xfrm>
            <a:off x="1918572" y="723487"/>
            <a:ext cx="3005578" cy="8996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Human evaluation with clinicians</a:t>
            </a:r>
          </a:p>
        </p:txBody>
      </p:sp>
      <p:sp>
        <p:nvSpPr>
          <p:cNvPr id="6" name="Rectangle 5">
            <a:extLst>
              <a:ext uri="{FF2B5EF4-FFF2-40B4-BE49-F238E27FC236}">
                <a16:creationId xmlns:a16="http://schemas.microsoft.com/office/drawing/2014/main" id="{20E5E865-C842-3C4D-29F9-FDE5483BD1C0}"/>
              </a:ext>
            </a:extLst>
          </p:cNvPr>
          <p:cNvSpPr/>
          <p:nvPr/>
        </p:nvSpPr>
        <p:spPr>
          <a:xfrm>
            <a:off x="1679640" y="2356439"/>
            <a:ext cx="3485994" cy="789139"/>
          </a:xfrm>
          <a:prstGeom prst="rect">
            <a:avLst/>
          </a:prstGeom>
          <a:solidFill>
            <a:srgbClr val="FAED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Clinician-annotated benchmarks</a:t>
            </a:r>
          </a:p>
        </p:txBody>
      </p:sp>
      <p:sp>
        <p:nvSpPr>
          <p:cNvPr id="9" name="Rectangle 8">
            <a:extLst>
              <a:ext uri="{FF2B5EF4-FFF2-40B4-BE49-F238E27FC236}">
                <a16:creationId xmlns:a16="http://schemas.microsoft.com/office/drawing/2014/main" id="{D90AB48F-4AFC-770B-44D0-8CCCF46B3C32}"/>
              </a:ext>
            </a:extLst>
          </p:cNvPr>
          <p:cNvSpPr/>
          <p:nvPr/>
        </p:nvSpPr>
        <p:spPr>
          <a:xfrm>
            <a:off x="1691494" y="3403330"/>
            <a:ext cx="3485994" cy="789139"/>
          </a:xfrm>
          <a:prstGeom prst="rect">
            <a:avLst/>
          </a:prstGeom>
          <a:solidFill>
            <a:srgbClr val="FAED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Reader studies and rubric rating tasks</a:t>
            </a:r>
          </a:p>
        </p:txBody>
      </p:sp>
      <p:sp>
        <p:nvSpPr>
          <p:cNvPr id="10" name="Rectangle 9">
            <a:extLst>
              <a:ext uri="{FF2B5EF4-FFF2-40B4-BE49-F238E27FC236}">
                <a16:creationId xmlns:a16="http://schemas.microsoft.com/office/drawing/2014/main" id="{3E0DA158-890E-5F97-7B21-6F23A5579321}"/>
              </a:ext>
            </a:extLst>
          </p:cNvPr>
          <p:cNvSpPr/>
          <p:nvPr/>
        </p:nvSpPr>
        <p:spPr>
          <a:xfrm>
            <a:off x="1691494" y="4450221"/>
            <a:ext cx="3485994" cy="789139"/>
          </a:xfrm>
          <a:prstGeom prst="rect">
            <a:avLst/>
          </a:prstGeom>
          <a:solidFill>
            <a:srgbClr val="FAED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Construct validity and benchmark item design</a:t>
            </a:r>
          </a:p>
        </p:txBody>
      </p:sp>
      <p:cxnSp>
        <p:nvCxnSpPr>
          <p:cNvPr id="11" name="Straight Arrow Connector 10">
            <a:extLst>
              <a:ext uri="{FF2B5EF4-FFF2-40B4-BE49-F238E27FC236}">
                <a16:creationId xmlns:a16="http://schemas.microsoft.com/office/drawing/2014/main" id="{A1A217C6-929D-EE14-0AF9-A2AFA0036F43}"/>
              </a:ext>
            </a:extLst>
          </p:cNvPr>
          <p:cNvCxnSpPr>
            <a:cxnSpLocks/>
            <a:endCxn id="6" idx="0"/>
          </p:cNvCxnSpPr>
          <p:nvPr/>
        </p:nvCxnSpPr>
        <p:spPr>
          <a:xfrm>
            <a:off x="3418735" y="1734559"/>
            <a:ext cx="3902" cy="621880"/>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CDFE1FA5-F484-4242-5936-3772EE4F106A}"/>
              </a:ext>
            </a:extLst>
          </p:cNvPr>
          <p:cNvSpPr/>
          <p:nvPr/>
        </p:nvSpPr>
        <p:spPr>
          <a:xfrm>
            <a:off x="6943829" y="2162381"/>
            <a:ext cx="3416713" cy="17763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Evaluating clinical AI in use</a:t>
            </a:r>
          </a:p>
        </p:txBody>
      </p:sp>
    </p:spTree>
    <p:extLst>
      <p:ext uri="{BB962C8B-B14F-4D97-AF65-F5344CB8AC3E}">
        <p14:creationId xmlns:p14="http://schemas.microsoft.com/office/powerpoint/2010/main" val="950559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4C3F1-A310-1915-FD9B-36663BFA782A}"/>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348C0FDB-BAFA-C320-C686-82DBEBD9FF3C}"/>
              </a:ext>
            </a:extLst>
          </p:cNvPr>
          <p:cNvSpPr/>
          <p:nvPr/>
        </p:nvSpPr>
        <p:spPr>
          <a:xfrm>
            <a:off x="1654660" y="1201061"/>
            <a:ext cx="3765300" cy="3664892"/>
          </a:xfrm>
          <a:prstGeom prst="ellipse">
            <a:avLst/>
          </a:prstGeom>
          <a:gradFill flip="none" rotWithShape="1">
            <a:gsLst>
              <a:gs pos="0">
                <a:schemeClr val="bg1"/>
              </a:gs>
              <a:gs pos="50000">
                <a:schemeClr val="bg1"/>
              </a:gs>
              <a:gs pos="100000">
                <a:schemeClr val="accent5">
                  <a:lumMod val="40000"/>
                  <a:lumOff val="60000"/>
                  <a:alpha val="47000"/>
                </a:scheme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7042ADE1-C1AD-816A-DC2E-344691DFC9D8}"/>
              </a:ext>
            </a:extLst>
          </p:cNvPr>
          <p:cNvSpPr/>
          <p:nvPr/>
        </p:nvSpPr>
        <p:spPr>
          <a:xfrm>
            <a:off x="6769536" y="1201061"/>
            <a:ext cx="3765300" cy="3664892"/>
          </a:xfrm>
          <a:prstGeom prst="ellipse">
            <a:avLst/>
          </a:prstGeom>
          <a:gradFill flip="none" rotWithShape="1">
            <a:gsLst>
              <a:gs pos="0">
                <a:schemeClr val="bg1"/>
              </a:gs>
              <a:gs pos="50000">
                <a:schemeClr val="bg1"/>
              </a:gs>
              <a:gs pos="100000">
                <a:schemeClr val="accent5">
                  <a:lumMod val="40000"/>
                  <a:lumOff val="60000"/>
                  <a:alpha val="47000"/>
                </a:scheme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E692F79-78A7-6769-7D86-7456E78A750A}"/>
              </a:ext>
            </a:extLst>
          </p:cNvPr>
          <p:cNvSpPr/>
          <p:nvPr/>
        </p:nvSpPr>
        <p:spPr>
          <a:xfrm>
            <a:off x="1791244" y="2316532"/>
            <a:ext cx="3416712" cy="146808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Building clinical reasoning AI</a:t>
            </a:r>
          </a:p>
        </p:txBody>
      </p:sp>
      <p:pic>
        <p:nvPicPr>
          <p:cNvPr id="12" name="Picture 11" descr="A bear with a heartbeat line&#10;&#10;AI-generated content may be incorrect.">
            <a:extLst>
              <a:ext uri="{FF2B5EF4-FFF2-40B4-BE49-F238E27FC236}">
                <a16:creationId xmlns:a16="http://schemas.microsoft.com/office/drawing/2014/main" id="{913055E8-D11C-C655-687F-41E6D562E451}"/>
              </a:ext>
            </a:extLst>
          </p:cNvPr>
          <p:cNvPicPr>
            <a:picLocks noChangeAspect="1"/>
          </p:cNvPicPr>
          <p:nvPr/>
        </p:nvPicPr>
        <p:blipFill>
          <a:blip r:embed="rId3"/>
          <a:srcRect l="3386" t="14001" r="4738" b="13999"/>
          <a:stretch>
            <a:fillRect/>
          </a:stretch>
        </p:blipFill>
        <p:spPr>
          <a:xfrm>
            <a:off x="494305" y="5590805"/>
            <a:ext cx="1317291" cy="1032310"/>
          </a:xfrm>
          <a:prstGeom prst="rect">
            <a:avLst/>
          </a:prstGeom>
        </p:spPr>
      </p:pic>
      <p:sp>
        <p:nvSpPr>
          <p:cNvPr id="13" name="Rectangle 12">
            <a:extLst>
              <a:ext uri="{FF2B5EF4-FFF2-40B4-BE49-F238E27FC236}">
                <a16:creationId xmlns:a16="http://schemas.microsoft.com/office/drawing/2014/main" id="{44C4C725-D3DB-8416-B262-AB45490D78F8}"/>
              </a:ext>
            </a:extLst>
          </p:cNvPr>
          <p:cNvSpPr/>
          <p:nvPr/>
        </p:nvSpPr>
        <p:spPr>
          <a:xfrm>
            <a:off x="352697" y="5292090"/>
            <a:ext cx="1645920" cy="1331025"/>
          </a:xfrm>
          <a:prstGeom prst="rect">
            <a:avLst/>
          </a:prstGeom>
          <a:solidFill>
            <a:schemeClr val="bg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B5AA042-8B84-9BEB-0A05-1BF14B615AD2}"/>
              </a:ext>
            </a:extLst>
          </p:cNvPr>
          <p:cNvSpPr/>
          <p:nvPr/>
        </p:nvSpPr>
        <p:spPr>
          <a:xfrm>
            <a:off x="736462" y="351629"/>
            <a:ext cx="5601695" cy="4940461"/>
          </a:xfrm>
          <a:prstGeom prst="rect">
            <a:avLst/>
          </a:prstGeom>
          <a:solidFill>
            <a:schemeClr val="bg1">
              <a:alpha val="9704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D3A64C01-3166-EBC3-EEE0-5236530144FD}"/>
              </a:ext>
            </a:extLst>
          </p:cNvPr>
          <p:cNvCxnSpPr>
            <a:cxnSpLocks/>
          </p:cNvCxnSpPr>
          <p:nvPr/>
        </p:nvCxnSpPr>
        <p:spPr>
          <a:xfrm flipH="1">
            <a:off x="5529701" y="3979747"/>
            <a:ext cx="1508006" cy="700611"/>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073FCE54-2AA4-A7AE-7F8B-8B4435F757D5}"/>
              </a:ext>
            </a:extLst>
          </p:cNvPr>
          <p:cNvSpPr/>
          <p:nvPr/>
        </p:nvSpPr>
        <p:spPr>
          <a:xfrm>
            <a:off x="1311649" y="3814675"/>
            <a:ext cx="4218052" cy="1270916"/>
          </a:xfrm>
          <a:prstGeom prst="rect">
            <a:avLst/>
          </a:prstGeom>
          <a:gradFill flip="none" rotWithShape="1">
            <a:gsLst>
              <a:gs pos="0">
                <a:schemeClr val="bg1"/>
              </a:gs>
              <a:gs pos="50000">
                <a:schemeClr val="bg1"/>
              </a:gs>
              <a:gs pos="100000">
                <a:srgbClr val="7030A0">
                  <a:alpha val="13923"/>
                </a:srgbClr>
              </a:gs>
            </a:gsLst>
            <a:lin ang="2700000" scaled="1"/>
            <a:tileRect/>
          </a:gra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0B3056E-A7D5-D6AB-D351-5148B8E34F82}"/>
              </a:ext>
            </a:extLst>
          </p:cNvPr>
          <p:cNvSpPr/>
          <p:nvPr/>
        </p:nvSpPr>
        <p:spPr>
          <a:xfrm>
            <a:off x="1613273" y="3919068"/>
            <a:ext cx="3636750" cy="10886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Scalable automatic evaluation</a:t>
            </a:r>
          </a:p>
        </p:txBody>
      </p:sp>
      <p:sp>
        <p:nvSpPr>
          <p:cNvPr id="9" name="Rectangle 8">
            <a:extLst>
              <a:ext uri="{FF2B5EF4-FFF2-40B4-BE49-F238E27FC236}">
                <a16:creationId xmlns:a16="http://schemas.microsoft.com/office/drawing/2014/main" id="{8232DFE5-B728-D9E6-31AA-C0D350E4C501}"/>
              </a:ext>
            </a:extLst>
          </p:cNvPr>
          <p:cNvSpPr/>
          <p:nvPr/>
        </p:nvSpPr>
        <p:spPr>
          <a:xfrm>
            <a:off x="1671427" y="1361452"/>
            <a:ext cx="3483864" cy="786384"/>
          </a:xfrm>
          <a:prstGeom prst="rect">
            <a:avLst/>
          </a:prstGeom>
          <a:solidFill>
            <a:srgbClr val="FAED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Monitorability and scalable oversight </a:t>
            </a:r>
          </a:p>
        </p:txBody>
      </p:sp>
      <p:sp>
        <p:nvSpPr>
          <p:cNvPr id="10" name="Rectangle 9">
            <a:extLst>
              <a:ext uri="{FF2B5EF4-FFF2-40B4-BE49-F238E27FC236}">
                <a16:creationId xmlns:a16="http://schemas.microsoft.com/office/drawing/2014/main" id="{18FFC035-1311-A917-589D-0C9F969B0C4C}"/>
              </a:ext>
            </a:extLst>
          </p:cNvPr>
          <p:cNvSpPr/>
          <p:nvPr/>
        </p:nvSpPr>
        <p:spPr>
          <a:xfrm>
            <a:off x="1671427" y="2408343"/>
            <a:ext cx="3483864" cy="786384"/>
          </a:xfrm>
          <a:prstGeom prst="rect">
            <a:avLst/>
          </a:prstGeom>
          <a:solidFill>
            <a:srgbClr val="FAEDEF"/>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sz="2000" dirty="0">
                <a:solidFill>
                  <a:schemeClr val="tx1"/>
                </a:solidFill>
              </a:rPr>
              <a:t>Validity of LLM as judge</a:t>
            </a:r>
          </a:p>
        </p:txBody>
      </p:sp>
      <p:cxnSp>
        <p:nvCxnSpPr>
          <p:cNvPr id="11" name="Straight Arrow Connector 10">
            <a:extLst>
              <a:ext uri="{FF2B5EF4-FFF2-40B4-BE49-F238E27FC236}">
                <a16:creationId xmlns:a16="http://schemas.microsoft.com/office/drawing/2014/main" id="{47C32932-3C88-C3D4-83E1-AC68B3FC87D7}"/>
              </a:ext>
            </a:extLst>
          </p:cNvPr>
          <p:cNvCxnSpPr>
            <a:cxnSpLocks/>
            <a:endCxn id="10" idx="2"/>
          </p:cNvCxnSpPr>
          <p:nvPr/>
        </p:nvCxnSpPr>
        <p:spPr>
          <a:xfrm flipH="1" flipV="1">
            <a:off x="3413359" y="3194727"/>
            <a:ext cx="5482" cy="619948"/>
          </a:xfrm>
          <a:prstGeom prst="straightConnector1">
            <a:avLst/>
          </a:prstGeom>
          <a:ln w="28575">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D1A1C646-FF13-9DF5-DB0F-254FA4EFCE48}"/>
              </a:ext>
            </a:extLst>
          </p:cNvPr>
          <p:cNvSpPr/>
          <p:nvPr/>
        </p:nvSpPr>
        <p:spPr>
          <a:xfrm>
            <a:off x="6943829" y="2162381"/>
            <a:ext cx="3416713" cy="17763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Evaluating clinical AI in use</a:t>
            </a:r>
          </a:p>
        </p:txBody>
      </p:sp>
    </p:spTree>
    <p:extLst>
      <p:ext uri="{BB962C8B-B14F-4D97-AF65-F5344CB8AC3E}">
        <p14:creationId xmlns:p14="http://schemas.microsoft.com/office/powerpoint/2010/main" val="11095055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3676</TotalTime>
  <Words>798</Words>
  <Application>Microsoft Macintosh PowerPoint</Application>
  <PresentationFormat>Widescreen</PresentationFormat>
  <Paragraphs>62</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Alaa</dc:creator>
  <cp:lastModifiedBy>Ahmed Alaa</cp:lastModifiedBy>
  <cp:revision>95</cp:revision>
  <dcterms:created xsi:type="dcterms:W3CDTF">2026-06-25T10:54:45Z</dcterms:created>
  <dcterms:modified xsi:type="dcterms:W3CDTF">2026-07-01T17:09:45Z</dcterms:modified>
</cp:coreProperties>
</file>