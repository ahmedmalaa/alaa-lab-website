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2" r:id="rId2"/>
    <p:sldId id="263" r:id="rId3"/>
    <p:sldId id="264" r:id="rId4"/>
    <p:sldId id="261" r:id="rId5"/>
    <p:sldId id="260" r:id="rId6"/>
    <p:sldId id="259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6"/>
    <p:restoredTop sz="91335"/>
  </p:normalViewPr>
  <p:slideViewPr>
    <p:cSldViewPr snapToGrid="0">
      <p:cViewPr varScale="1">
        <p:scale>
          <a:sx n="97" d="100"/>
          <a:sy n="97" d="100"/>
        </p:scale>
        <p:origin x="123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8E4AC6-F86D-3C40-92D8-1D0542B171BE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A89E0-8E79-4D48-9709-3B1A56D5A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48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675FB-91CD-EC4C-21CB-39ABF8949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A14C52-62F9-9AD5-E1DF-180C14421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2AB6E-7A59-878A-82B1-1FB9EE3A2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Dive – Strategic AI, Billing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51610-4933-9BCD-F4EB-66341B5DB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A89E0-8E79-4D48-9709-3B1A56D5AD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84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A4F47-5E1D-E446-ADF1-D16B29533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1AE02-F9E8-8D32-DEB2-1CD01AA1E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C4EAEC-BAC4-5357-C90F-B5EFF5DFBC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Dive – Strategic AI, Billing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AAC3A-84E0-9412-F9DC-D079DB02D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A89E0-8E79-4D48-9709-3B1A56D5AD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12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2D87A-7A72-1EA7-3D98-AB69336DA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224BE4-7329-988A-AF8E-10BED2C8B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EFF154-1333-AD59-1F9B-77F27650A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Dive – Strategic AI, Billing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656AB-441E-9C7B-22CF-A76805C0C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A89E0-8E79-4D48-9709-3B1A56D5AD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456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04EFE-CE01-DF78-F67F-DD5020F9D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BF034-D799-4A60-28A4-49746A8FC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A0604-927A-15B9-51F2-81A9FBCB00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Foundation Models – EHR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76181-E7F6-8A6D-3E59-78B0EB038A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A89E0-8E79-4D48-9709-3B1A56D5AD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359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7E157-AD29-0B61-CE1B-C850D04D2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D09DEB-DF0B-13D1-AAB5-A4C51FA95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126967-22FB-2C42-49DE-5D509BC6A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Dive – Strategic AI, Billing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BCCBA-AF26-0014-BA56-BB53FF88C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A89E0-8E79-4D48-9709-3B1A56D5AD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592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7529D-6FC5-A961-9A39-D634A1805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3DE27-D736-379F-14CE-261C795A3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E256F-5B28-98B8-483C-05751EA4D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</a:t>
            </a:r>
            <a:r>
              <a:rPr lang="en-US" sz="1200" dirty="0">
                <a:solidFill>
                  <a:schemeClr val="tx1"/>
                </a:solidFill>
              </a:rPr>
              <a:t>Agentic evals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65079-5E7F-9421-047F-B6A88ED97D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A89E0-8E79-4D48-9709-3B1A56D5AD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92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Verifiable rewards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A89E0-8E79-4D48-9709-3B1A56D5AD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783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B4927-7E4A-6B40-638D-C29588EE1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59B86B-30A7-5577-B3B0-8BB8E190D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6A8C4-033F-9724-01BC-90CB652B5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E72A-6C79-7C42-ACA1-0B76838F2411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8E6E3-BEE4-9233-6000-648E6860B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0C26F-EF4C-582E-CC5C-BA108CA16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F788-70CA-5B40-804E-9A4C4078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5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C1D0A-AD9F-F6D1-9AF3-7183BD0DE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53163-EDDA-8F8C-7835-76B8278D8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263EC-2D1B-1673-7927-CEFBF768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E72A-6C79-7C42-ACA1-0B76838F2411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61D25-529F-1C63-079F-ADAA56AB9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38C83-663A-1EDF-3CD3-56BCE79C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F788-70CA-5B40-804E-9A4C4078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453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CDFEA-CF14-5158-64C4-FAD0B5AF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AC8BA-3A1B-C39D-2340-EE914290C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B3C17-BF44-BA64-700B-29F46EA4A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E72A-6C79-7C42-ACA1-0B76838F2411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41E6D-8D1E-E639-B025-592ACD443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5A83F-546B-4D7B-66A6-CAA96A898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F788-70CA-5B40-804E-9A4C4078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42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5092A-E0CD-4682-78B5-4E9D0A069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65BA9-C850-0007-053C-9D54D22A0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43B9E-A9D4-7E10-A32D-5FEA937C3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043F5-514F-C9D7-8BC7-E974A42F3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E72A-6C79-7C42-ACA1-0B76838F2411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C8BBF-B962-42D5-4285-054C92A54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C4E15-1482-6521-076B-A4A120E4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F788-70CA-5B40-804E-9A4C4078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88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7EF4-8841-46C8-B42C-E4C74A595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DCD84-CB0A-F95F-EBE3-90A76BC77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CE814-5E56-CB9D-DB5B-713207574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65C28E-7A49-C8BC-8CA1-94015A85E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78F594-82E6-F978-1708-7DF97999A4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0BFB48-0506-F113-54D9-DED32C28A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E72A-6C79-7C42-ACA1-0B76838F2411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AD93AF-B6CB-4DCA-3F02-08FC951A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0EB232-C893-7D2C-CBF8-CBBE9B6D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F788-70CA-5B40-804E-9A4C4078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044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0EFA9-5276-AF7D-C2EC-451901586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547B7C-E555-1882-B598-F90D5B9E2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E72A-6C79-7C42-ACA1-0B76838F2411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8F9B65-4442-6800-8D4A-C94553DDB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34A076-9A2B-8687-0C8B-F6864F5A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F788-70CA-5B40-804E-9A4C4078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73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3EBB0-4F3E-FF73-5030-9662309B2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E72A-6C79-7C42-ACA1-0B76838F2411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BA7E69-A97D-69DB-961A-A29FD3646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12057-1600-8071-D0F7-11B50E6CF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F788-70CA-5B40-804E-9A4C4078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200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3E498-8B5F-4565-BFC6-2F862C1E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72CC5-5F39-B81D-2C34-22526044B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4419C-46F2-319A-D24A-24E23E6BF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D8BC9-F40E-F8E5-754A-5E7ECE73E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E72A-6C79-7C42-ACA1-0B76838F2411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54D477-CCE1-12F3-AFE2-3C50C924C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CA75F-D453-0DD9-4E13-8C6D5B677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F788-70CA-5B40-804E-9A4C4078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861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2F971-3342-CB49-17B7-D52DC459A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FA8346-4DA3-1F07-9CD9-6B403B6534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00052-6EFC-A574-7C97-FD9A116CE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EBA34A-980B-D783-51CF-8CD3AFD3C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E72A-6C79-7C42-ACA1-0B76838F2411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794F8-E2B1-9D84-261B-25D16081C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381BA-58C5-40AB-EA6C-14144789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F788-70CA-5B40-804E-9A4C4078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006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FB4A5-F85E-5318-7163-B1331F6C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48085-82CC-F2F2-F73A-5ECB50B00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518B0-32A4-0F49-873C-37C1B5BF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E72A-6C79-7C42-ACA1-0B76838F2411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D20FD-91AC-1D72-2F85-CC7B8988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346A7-871C-A963-B535-AC7753E2E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F788-70CA-5B40-804E-9A4C4078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59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BF4D49-CEDF-DE82-8E4E-AB2C6B4A92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9E0367-E35A-7798-7D75-97614C057E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07FF3-BADD-8081-A2D5-64D46E7C8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E72A-6C79-7C42-ACA1-0B76838F2411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F5237-FAE3-D1B5-17F7-08F402DD1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0C48C-385F-7920-E147-FC6FC7B7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AF788-70CA-5B40-804E-9A4C4078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12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5FFD30-E501-C1BE-2A92-D09615EB1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E1EAD-8482-E27D-3881-FCDC7219C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F6178-2D01-B221-EBCB-759E174BCF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28E72A-6C79-7C42-ACA1-0B76838F2411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51CA8-0B3C-4EE7-9BED-0B630CDC8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33DB8-57C9-165D-747F-91367DF909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8AF788-70CA-5B40-804E-9A4C4078B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63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58120-67B2-0104-4BD7-8ECDD3A3A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66824D48-1513-804D-324A-96A525917E13}"/>
              </a:ext>
            </a:extLst>
          </p:cNvPr>
          <p:cNvSpPr/>
          <p:nvPr/>
        </p:nvSpPr>
        <p:spPr>
          <a:xfrm>
            <a:off x="1654660" y="1201061"/>
            <a:ext cx="3765300" cy="3664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chemeClr val="accent5">
                  <a:lumMod val="40000"/>
                  <a:lumOff val="60000"/>
                  <a:alpha val="47000"/>
                </a:scheme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F2EA177-4DAA-6C95-BBF6-1FD1AF6571A8}"/>
              </a:ext>
            </a:extLst>
          </p:cNvPr>
          <p:cNvSpPr/>
          <p:nvPr/>
        </p:nvSpPr>
        <p:spPr>
          <a:xfrm>
            <a:off x="6769536" y="1201061"/>
            <a:ext cx="3765300" cy="3664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chemeClr val="accent5">
                  <a:lumMod val="40000"/>
                  <a:lumOff val="60000"/>
                  <a:alpha val="47000"/>
                </a:scheme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7EBA14-1DC1-6482-2622-67C7B4DA8570}"/>
              </a:ext>
            </a:extLst>
          </p:cNvPr>
          <p:cNvSpPr/>
          <p:nvPr/>
        </p:nvSpPr>
        <p:spPr>
          <a:xfrm>
            <a:off x="1791244" y="2316532"/>
            <a:ext cx="3416712" cy="14680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Building clinical reasoning AI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990A8F-A17F-4681-811F-990957EFBF33}"/>
              </a:ext>
            </a:extLst>
          </p:cNvPr>
          <p:cNvSpPr/>
          <p:nvPr/>
        </p:nvSpPr>
        <p:spPr>
          <a:xfrm>
            <a:off x="6943829" y="2162381"/>
            <a:ext cx="3416713" cy="1776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Evaluating clinical AI in use</a:t>
            </a:r>
          </a:p>
        </p:txBody>
      </p:sp>
      <p:pic>
        <p:nvPicPr>
          <p:cNvPr id="12" name="Picture 11" descr="A bear with a heartbeat line&#10;&#10;AI-generated content may be incorrect.">
            <a:extLst>
              <a:ext uri="{FF2B5EF4-FFF2-40B4-BE49-F238E27FC236}">
                <a16:creationId xmlns:a16="http://schemas.microsoft.com/office/drawing/2014/main" id="{C3538C9F-ACA4-B923-767C-3886CDAD2F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6" t="14001" r="4738" b="13999"/>
          <a:stretch>
            <a:fillRect/>
          </a:stretch>
        </p:blipFill>
        <p:spPr>
          <a:xfrm>
            <a:off x="494305" y="5590805"/>
            <a:ext cx="1317291" cy="10323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69ED55D-209B-E64D-0153-30ABB4D029C3}"/>
              </a:ext>
            </a:extLst>
          </p:cNvPr>
          <p:cNvSpPr/>
          <p:nvPr/>
        </p:nvSpPr>
        <p:spPr>
          <a:xfrm>
            <a:off x="352697" y="5292090"/>
            <a:ext cx="1645920" cy="1331025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83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0566E-116B-E642-25CC-97F13D877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ACFBC59-1455-9AF1-432D-872694537ED6}"/>
              </a:ext>
            </a:extLst>
          </p:cNvPr>
          <p:cNvSpPr/>
          <p:nvPr/>
        </p:nvSpPr>
        <p:spPr>
          <a:xfrm>
            <a:off x="1654660" y="1201061"/>
            <a:ext cx="3765300" cy="3664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chemeClr val="accent5">
                  <a:lumMod val="40000"/>
                  <a:lumOff val="60000"/>
                  <a:alpha val="47000"/>
                </a:scheme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2C3FC9D-CC7C-6823-BDE0-D55195065C61}"/>
              </a:ext>
            </a:extLst>
          </p:cNvPr>
          <p:cNvSpPr/>
          <p:nvPr/>
        </p:nvSpPr>
        <p:spPr>
          <a:xfrm>
            <a:off x="6769536" y="1201061"/>
            <a:ext cx="3765300" cy="3664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chemeClr val="accent5">
                  <a:lumMod val="40000"/>
                  <a:lumOff val="60000"/>
                  <a:alpha val="47000"/>
                </a:scheme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40F547-3747-AD4F-7E69-B7A20F2A9A2E}"/>
              </a:ext>
            </a:extLst>
          </p:cNvPr>
          <p:cNvSpPr/>
          <p:nvPr/>
        </p:nvSpPr>
        <p:spPr>
          <a:xfrm>
            <a:off x="1791244" y="2316532"/>
            <a:ext cx="3416712" cy="14680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Building clinical reasoning AI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E88BCF-20EB-7ECC-5E7F-202A6DCC9228}"/>
              </a:ext>
            </a:extLst>
          </p:cNvPr>
          <p:cNvSpPr/>
          <p:nvPr/>
        </p:nvSpPr>
        <p:spPr>
          <a:xfrm>
            <a:off x="6943829" y="2162381"/>
            <a:ext cx="3416713" cy="1776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Evaluating clinical AI in use</a:t>
            </a:r>
          </a:p>
        </p:txBody>
      </p:sp>
      <p:pic>
        <p:nvPicPr>
          <p:cNvPr id="12" name="Picture 11" descr="A bear with a heartbeat line&#10;&#10;AI-generated content may be incorrect.">
            <a:extLst>
              <a:ext uri="{FF2B5EF4-FFF2-40B4-BE49-F238E27FC236}">
                <a16:creationId xmlns:a16="http://schemas.microsoft.com/office/drawing/2014/main" id="{4F8B4927-19B8-3928-2EEF-AE737076E3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6" t="14001" r="4738" b="13999"/>
          <a:stretch>
            <a:fillRect/>
          </a:stretch>
        </p:blipFill>
        <p:spPr>
          <a:xfrm>
            <a:off x="494305" y="5590805"/>
            <a:ext cx="1317291" cy="10323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F2ADAE1-0C3C-C0B6-4595-54DD25443C34}"/>
              </a:ext>
            </a:extLst>
          </p:cNvPr>
          <p:cNvSpPr/>
          <p:nvPr/>
        </p:nvSpPr>
        <p:spPr>
          <a:xfrm>
            <a:off x="352697" y="5292090"/>
            <a:ext cx="1645920" cy="1331025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15115E-1ADE-C97D-FD48-9F6F9BADB4DA}"/>
              </a:ext>
            </a:extLst>
          </p:cNvPr>
          <p:cNvSpPr/>
          <p:nvPr/>
        </p:nvSpPr>
        <p:spPr>
          <a:xfrm>
            <a:off x="6095999" y="224308"/>
            <a:ext cx="5601695" cy="6398807"/>
          </a:xfrm>
          <a:prstGeom prst="rect">
            <a:avLst/>
          </a:prstGeom>
          <a:solidFill>
            <a:schemeClr val="bg1">
              <a:alpha val="9704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389DA-225C-071F-2B98-2A787AF5ED8C}"/>
              </a:ext>
            </a:extLst>
          </p:cNvPr>
          <p:cNvSpPr/>
          <p:nvPr/>
        </p:nvSpPr>
        <p:spPr>
          <a:xfrm>
            <a:off x="6682813" y="539274"/>
            <a:ext cx="4218052" cy="115537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AB05B6-16B9-C3ED-0440-0C35A742C48A}"/>
              </a:ext>
            </a:extLst>
          </p:cNvPr>
          <p:cNvSpPr/>
          <p:nvPr/>
        </p:nvSpPr>
        <p:spPr>
          <a:xfrm>
            <a:off x="6682813" y="4410072"/>
            <a:ext cx="4218052" cy="1270916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F74166-B806-465C-CAFC-528FBCBE8197}"/>
              </a:ext>
            </a:extLst>
          </p:cNvPr>
          <p:cNvSpPr/>
          <p:nvPr/>
        </p:nvSpPr>
        <p:spPr>
          <a:xfrm>
            <a:off x="7289736" y="680367"/>
            <a:ext cx="3005578" cy="899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Post-training and test-time scaling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108155-089F-B33B-F3B9-40CEEAC9BB20}"/>
              </a:ext>
            </a:extLst>
          </p:cNvPr>
          <p:cNvSpPr/>
          <p:nvPr/>
        </p:nvSpPr>
        <p:spPr>
          <a:xfrm>
            <a:off x="6984437" y="4514465"/>
            <a:ext cx="3636750" cy="1088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Causal AI and clinical world models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E009DE-3F14-CE91-E85C-C6F236C3733E}"/>
              </a:ext>
            </a:extLst>
          </p:cNvPr>
          <p:cNvCxnSpPr>
            <a:cxnSpLocks/>
            <a:stCxn id="2" idx="7"/>
            <a:endCxn id="5" idx="1"/>
          </p:cNvCxnSpPr>
          <p:nvPr/>
        </p:nvCxnSpPr>
        <p:spPr>
          <a:xfrm flipV="1">
            <a:off x="4868545" y="1116963"/>
            <a:ext cx="1814268" cy="62080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4C66DB-080A-1AF1-1CF7-5BF2E23D3831}"/>
              </a:ext>
            </a:extLst>
          </p:cNvPr>
          <p:cNvCxnSpPr>
            <a:cxnSpLocks/>
            <a:stCxn id="2" idx="5"/>
            <a:endCxn id="6" idx="1"/>
          </p:cNvCxnSpPr>
          <p:nvPr/>
        </p:nvCxnSpPr>
        <p:spPr>
          <a:xfrm>
            <a:off x="4868545" y="4329242"/>
            <a:ext cx="1814268" cy="71628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D50DEF2-DAE7-CDFE-361B-7E6E7A5B4359}"/>
              </a:ext>
            </a:extLst>
          </p:cNvPr>
          <p:cNvSpPr/>
          <p:nvPr/>
        </p:nvSpPr>
        <p:spPr>
          <a:xfrm>
            <a:off x="5989902" y="1906591"/>
            <a:ext cx="5324567" cy="899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How can we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604AAD-C08F-7369-1EF4-9122C3A8476D}"/>
              </a:ext>
            </a:extLst>
          </p:cNvPr>
          <p:cNvSpPr/>
          <p:nvPr/>
        </p:nvSpPr>
        <p:spPr>
          <a:xfrm>
            <a:off x="6095999" y="5868878"/>
            <a:ext cx="5324567" cy="899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How can we</a:t>
            </a:r>
          </a:p>
        </p:txBody>
      </p:sp>
    </p:spTree>
    <p:extLst>
      <p:ext uri="{BB962C8B-B14F-4D97-AF65-F5344CB8AC3E}">
        <p14:creationId xmlns:p14="http://schemas.microsoft.com/office/powerpoint/2010/main" val="1434950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DF07F-E12B-9BD3-5DB8-58D86F558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EE0F7BF-D1C9-299F-22B0-AD69A7826A5C}"/>
              </a:ext>
            </a:extLst>
          </p:cNvPr>
          <p:cNvSpPr/>
          <p:nvPr/>
        </p:nvSpPr>
        <p:spPr>
          <a:xfrm>
            <a:off x="1654660" y="1201061"/>
            <a:ext cx="3765300" cy="3664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chemeClr val="accent5">
                  <a:lumMod val="40000"/>
                  <a:lumOff val="60000"/>
                  <a:alpha val="47000"/>
                </a:scheme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485030E-1557-9A3D-00F9-43BC54AF8D17}"/>
              </a:ext>
            </a:extLst>
          </p:cNvPr>
          <p:cNvSpPr/>
          <p:nvPr/>
        </p:nvSpPr>
        <p:spPr>
          <a:xfrm>
            <a:off x="6769536" y="1201061"/>
            <a:ext cx="3765300" cy="366489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chemeClr val="accent5">
                  <a:lumMod val="40000"/>
                  <a:lumOff val="60000"/>
                  <a:alpha val="47000"/>
                </a:scheme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6E0B9B-2F05-D978-7D96-97D32039BDF8}"/>
              </a:ext>
            </a:extLst>
          </p:cNvPr>
          <p:cNvSpPr/>
          <p:nvPr/>
        </p:nvSpPr>
        <p:spPr>
          <a:xfrm>
            <a:off x="1791244" y="2316532"/>
            <a:ext cx="3416712" cy="14680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Building clinical reasoning AI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6ED807-003D-3B54-014A-C4686E45829E}"/>
              </a:ext>
            </a:extLst>
          </p:cNvPr>
          <p:cNvSpPr/>
          <p:nvPr/>
        </p:nvSpPr>
        <p:spPr>
          <a:xfrm>
            <a:off x="6943829" y="2162381"/>
            <a:ext cx="3416713" cy="1776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Evaluating clinical AI in use</a:t>
            </a:r>
          </a:p>
        </p:txBody>
      </p:sp>
      <p:pic>
        <p:nvPicPr>
          <p:cNvPr id="12" name="Picture 11" descr="A bear with a heartbeat line&#10;&#10;AI-generated content may be incorrect.">
            <a:extLst>
              <a:ext uri="{FF2B5EF4-FFF2-40B4-BE49-F238E27FC236}">
                <a16:creationId xmlns:a16="http://schemas.microsoft.com/office/drawing/2014/main" id="{5F37FFE0-2814-4843-3BBE-67077EF0EE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6" t="14001" r="4738" b="13999"/>
          <a:stretch>
            <a:fillRect/>
          </a:stretch>
        </p:blipFill>
        <p:spPr>
          <a:xfrm>
            <a:off x="494305" y="5590805"/>
            <a:ext cx="1317291" cy="10323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0CBD97D-49D2-96C6-4340-647B4738282A}"/>
              </a:ext>
            </a:extLst>
          </p:cNvPr>
          <p:cNvSpPr/>
          <p:nvPr/>
        </p:nvSpPr>
        <p:spPr>
          <a:xfrm>
            <a:off x="352697" y="5292090"/>
            <a:ext cx="1645920" cy="1331025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58C653-27BF-30CB-BDA7-7CB720582777}"/>
              </a:ext>
            </a:extLst>
          </p:cNvPr>
          <p:cNvSpPr/>
          <p:nvPr/>
        </p:nvSpPr>
        <p:spPr>
          <a:xfrm>
            <a:off x="6095999" y="224308"/>
            <a:ext cx="5601695" cy="6398807"/>
          </a:xfrm>
          <a:prstGeom prst="rect">
            <a:avLst/>
          </a:prstGeom>
          <a:solidFill>
            <a:schemeClr val="bg1">
              <a:alpha val="9704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9997B5-ED30-EDE0-BF97-2740615852DA}"/>
              </a:ext>
            </a:extLst>
          </p:cNvPr>
          <p:cNvSpPr/>
          <p:nvPr/>
        </p:nvSpPr>
        <p:spPr>
          <a:xfrm>
            <a:off x="6682813" y="539274"/>
            <a:ext cx="4218052" cy="115537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D84339-6031-9D23-74CF-A81AEC65F920}"/>
              </a:ext>
            </a:extLst>
          </p:cNvPr>
          <p:cNvSpPr/>
          <p:nvPr/>
        </p:nvSpPr>
        <p:spPr>
          <a:xfrm>
            <a:off x="7289736" y="680367"/>
            <a:ext cx="3005578" cy="8996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Post-training and test-time scaling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C1F3BC-2889-5B9B-761E-EFF4105B31D5}"/>
              </a:ext>
            </a:extLst>
          </p:cNvPr>
          <p:cNvCxnSpPr>
            <a:cxnSpLocks/>
            <a:stCxn id="2" idx="7"/>
            <a:endCxn id="5" idx="1"/>
          </p:cNvCxnSpPr>
          <p:nvPr/>
        </p:nvCxnSpPr>
        <p:spPr>
          <a:xfrm flipV="1">
            <a:off x="4868545" y="1116963"/>
            <a:ext cx="1814268" cy="620809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38F1916-8524-D54D-FEEF-89DF95FC811A}"/>
              </a:ext>
            </a:extLst>
          </p:cNvPr>
          <p:cNvSpPr/>
          <p:nvPr/>
        </p:nvSpPr>
        <p:spPr>
          <a:xfrm>
            <a:off x="7052744" y="2316532"/>
            <a:ext cx="3485994" cy="78913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RL from clinician feedback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B5EA10-DB86-08D6-DD43-2C671548538E}"/>
              </a:ext>
            </a:extLst>
          </p:cNvPr>
          <p:cNvSpPr/>
          <p:nvPr/>
        </p:nvSpPr>
        <p:spPr>
          <a:xfrm>
            <a:off x="7064598" y="3363423"/>
            <a:ext cx="3485994" cy="78913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Designing verifiable rewards for clinical AI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FC0BFF-E6FD-F4F3-CC70-9D358900F59D}"/>
              </a:ext>
            </a:extLst>
          </p:cNvPr>
          <p:cNvSpPr/>
          <p:nvPr/>
        </p:nvSpPr>
        <p:spPr>
          <a:xfrm>
            <a:off x="7064598" y="4410314"/>
            <a:ext cx="3485994" cy="78913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Test-time clinical reasoning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B204D81-0DCF-00E8-E466-16A0FAFCF077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791839" y="1694652"/>
            <a:ext cx="3902" cy="62188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113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044BB-8212-69B5-D2D0-CDB9D7E6B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22FADD-5B9A-A84D-8D09-D114AB477AFD}"/>
              </a:ext>
            </a:extLst>
          </p:cNvPr>
          <p:cNvSpPr/>
          <p:nvPr/>
        </p:nvSpPr>
        <p:spPr>
          <a:xfrm>
            <a:off x="6767578" y="301637"/>
            <a:ext cx="4639856" cy="105034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chemeClr val="accent5">
                  <a:lumMod val="40000"/>
                  <a:lumOff val="60000"/>
                  <a:alpha val="47000"/>
                </a:scheme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B01246-7E1A-8B7B-32E0-47D30914493D}"/>
              </a:ext>
            </a:extLst>
          </p:cNvPr>
          <p:cNvSpPr/>
          <p:nvPr/>
        </p:nvSpPr>
        <p:spPr>
          <a:xfrm>
            <a:off x="895359" y="314889"/>
            <a:ext cx="4639856" cy="105034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chemeClr val="accent5">
                  <a:lumMod val="40000"/>
                  <a:lumOff val="60000"/>
                  <a:alpha val="47000"/>
                </a:scheme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295373-0428-FE72-D497-172492DB06D0}"/>
              </a:ext>
            </a:extLst>
          </p:cNvPr>
          <p:cNvSpPr/>
          <p:nvPr/>
        </p:nvSpPr>
        <p:spPr>
          <a:xfrm>
            <a:off x="7170210" y="468110"/>
            <a:ext cx="3834592" cy="717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Evaluating clinical AI in use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9E5A0A-8CE3-70F7-9F0E-24FF4BD6AF2A}"/>
              </a:ext>
            </a:extLst>
          </p:cNvPr>
          <p:cNvSpPr/>
          <p:nvPr/>
        </p:nvSpPr>
        <p:spPr>
          <a:xfrm>
            <a:off x="1106261" y="557312"/>
            <a:ext cx="4218052" cy="538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Building clinical reasoning AI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CE580C-03E3-5DAE-A96F-8A7CC8574474}"/>
              </a:ext>
            </a:extLst>
          </p:cNvPr>
          <p:cNvSpPr/>
          <p:nvPr/>
        </p:nvSpPr>
        <p:spPr>
          <a:xfrm>
            <a:off x="507422" y="1948118"/>
            <a:ext cx="2380980" cy="139800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72A109-B253-8FFA-45C8-0B83188AC5A7}"/>
              </a:ext>
            </a:extLst>
          </p:cNvPr>
          <p:cNvSpPr/>
          <p:nvPr/>
        </p:nvSpPr>
        <p:spPr>
          <a:xfrm>
            <a:off x="3535545" y="1948118"/>
            <a:ext cx="2380980" cy="139800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264E17-5826-34AD-0A2A-3673DD854510}"/>
              </a:ext>
            </a:extLst>
          </p:cNvPr>
          <p:cNvSpPr/>
          <p:nvPr/>
        </p:nvSpPr>
        <p:spPr>
          <a:xfrm>
            <a:off x="658921" y="2102806"/>
            <a:ext cx="2052850" cy="1088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Post-training and test-time scaling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4DAEA4-14BC-D95A-3013-9564E0F94A1C}"/>
              </a:ext>
            </a:extLst>
          </p:cNvPr>
          <p:cNvSpPr/>
          <p:nvPr/>
        </p:nvSpPr>
        <p:spPr>
          <a:xfrm>
            <a:off x="3725101" y="2116057"/>
            <a:ext cx="2052850" cy="1088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Causal AI and clinical world models</a:t>
            </a:r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EA3FA20D-9082-943C-B15C-6F27FA6E7EF3}"/>
              </a:ext>
            </a:extLst>
          </p:cNvPr>
          <p:cNvCxnSpPr>
            <a:stCxn id="3" idx="2"/>
            <a:endCxn id="6" idx="0"/>
          </p:cNvCxnSpPr>
          <p:nvPr/>
        </p:nvCxnSpPr>
        <p:spPr>
          <a:xfrm rot="5400000">
            <a:off x="2165158" y="897988"/>
            <a:ext cx="582885" cy="1517375"/>
          </a:xfrm>
          <a:prstGeom prst="bentConnector3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A750C9E5-1778-30E9-9B26-FB59F63BBFD8}"/>
              </a:ext>
            </a:extLst>
          </p:cNvPr>
          <p:cNvCxnSpPr>
            <a:cxnSpLocks/>
            <a:stCxn id="3" idx="2"/>
            <a:endCxn id="9" idx="0"/>
          </p:cNvCxnSpPr>
          <p:nvPr/>
        </p:nvCxnSpPr>
        <p:spPr>
          <a:xfrm rot="16200000" flipH="1">
            <a:off x="3679219" y="901301"/>
            <a:ext cx="582885" cy="151074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AB0B750-9C29-3785-677F-0DC44475587F}"/>
              </a:ext>
            </a:extLst>
          </p:cNvPr>
          <p:cNvSpPr/>
          <p:nvPr/>
        </p:nvSpPr>
        <p:spPr>
          <a:xfrm>
            <a:off x="6384374" y="1924976"/>
            <a:ext cx="2380980" cy="139800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529941-FDA1-8161-08E5-1BB14631F239}"/>
              </a:ext>
            </a:extLst>
          </p:cNvPr>
          <p:cNvSpPr/>
          <p:nvPr/>
        </p:nvSpPr>
        <p:spPr>
          <a:xfrm>
            <a:off x="9416830" y="1934915"/>
            <a:ext cx="2380980" cy="139800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AD42DAA-31B1-BFC2-13EF-6DA5B0BA20F8}"/>
              </a:ext>
            </a:extLst>
          </p:cNvPr>
          <p:cNvSpPr/>
          <p:nvPr/>
        </p:nvSpPr>
        <p:spPr>
          <a:xfrm>
            <a:off x="6535873" y="2079664"/>
            <a:ext cx="2052850" cy="1088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Benchmarks and evaluation studies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3D227A-7A05-EFC8-0F50-75BDFF8627C9}"/>
              </a:ext>
            </a:extLst>
          </p:cNvPr>
          <p:cNvSpPr/>
          <p:nvPr/>
        </p:nvSpPr>
        <p:spPr>
          <a:xfrm>
            <a:off x="9606386" y="2102854"/>
            <a:ext cx="2052850" cy="1088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Validity of automatic evaluation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F5E148AA-9E71-1CF6-16BB-BE0F1899ED57}"/>
              </a:ext>
            </a:extLst>
          </p:cNvPr>
          <p:cNvCxnSpPr/>
          <p:nvPr/>
        </p:nvCxnSpPr>
        <p:spPr>
          <a:xfrm rot="5400000">
            <a:off x="8033190" y="879792"/>
            <a:ext cx="582885" cy="1517375"/>
          </a:xfrm>
          <a:prstGeom prst="bentConnector3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2DFA5E12-6EA2-CA8D-ED86-765C3B5D72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9547251" y="883105"/>
            <a:ext cx="582885" cy="151074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BF1E481C-B11F-2322-9915-39EF1D0A2C1F}"/>
              </a:ext>
            </a:extLst>
          </p:cNvPr>
          <p:cNvSpPr/>
          <p:nvPr/>
        </p:nvSpPr>
        <p:spPr>
          <a:xfrm>
            <a:off x="6384374" y="3477079"/>
            <a:ext cx="2380980" cy="95485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Benchmark datasets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C6797C-2943-751A-CC1A-24BAD614A298}"/>
              </a:ext>
            </a:extLst>
          </p:cNvPr>
          <p:cNvSpPr/>
          <p:nvPr/>
        </p:nvSpPr>
        <p:spPr>
          <a:xfrm>
            <a:off x="6396228" y="4523970"/>
            <a:ext cx="2380980" cy="95485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Evaluating AI in clinical tasks and workflows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C44124A-37F0-D7F7-4A25-A72E810D25B2}"/>
              </a:ext>
            </a:extLst>
          </p:cNvPr>
          <p:cNvSpPr/>
          <p:nvPr/>
        </p:nvSpPr>
        <p:spPr>
          <a:xfrm>
            <a:off x="6396228" y="5570861"/>
            <a:ext cx="2380980" cy="95485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Evaluating AI in medical billing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9296529-9B0E-2D6A-6576-AAAB29A599E4}"/>
              </a:ext>
            </a:extLst>
          </p:cNvPr>
          <p:cNvSpPr/>
          <p:nvPr/>
        </p:nvSpPr>
        <p:spPr>
          <a:xfrm>
            <a:off x="9416830" y="3477079"/>
            <a:ext cx="2380980" cy="95485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Measurement validity of benchmarks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E8D7B3A-F881-BC67-68B4-D297E545551A}"/>
              </a:ext>
            </a:extLst>
          </p:cNvPr>
          <p:cNvSpPr/>
          <p:nvPr/>
        </p:nvSpPr>
        <p:spPr>
          <a:xfrm>
            <a:off x="9428684" y="4523970"/>
            <a:ext cx="2380980" cy="95485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Statistical validity of LLM as judge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549697B-5E7A-0372-8D52-A6FA7004A1F6}"/>
              </a:ext>
            </a:extLst>
          </p:cNvPr>
          <p:cNvSpPr/>
          <p:nvPr/>
        </p:nvSpPr>
        <p:spPr>
          <a:xfrm>
            <a:off x="9428684" y="5570861"/>
            <a:ext cx="2380980" cy="95485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Monitorability and scalable oversight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7E7DFC4-4D13-AA1E-68E6-49ABE404F4D0}"/>
              </a:ext>
            </a:extLst>
          </p:cNvPr>
          <p:cNvSpPr/>
          <p:nvPr/>
        </p:nvSpPr>
        <p:spPr>
          <a:xfrm>
            <a:off x="3535545" y="3477079"/>
            <a:ext cx="2380980" cy="95485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AI endpoints for causal inference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7926324-7BEC-4005-9A65-42623F0F45AD}"/>
              </a:ext>
            </a:extLst>
          </p:cNvPr>
          <p:cNvSpPr/>
          <p:nvPr/>
        </p:nvSpPr>
        <p:spPr>
          <a:xfrm>
            <a:off x="3547399" y="4523970"/>
            <a:ext cx="2380980" cy="95485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Digital twins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C6A6B7E-0885-705B-A1A1-7D3DAAAAE67F}"/>
              </a:ext>
            </a:extLst>
          </p:cNvPr>
          <p:cNvSpPr/>
          <p:nvPr/>
        </p:nvSpPr>
        <p:spPr>
          <a:xfrm>
            <a:off x="3547399" y="5570861"/>
            <a:ext cx="2380980" cy="95485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Clinical world models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B0CA8A9-66F7-0FEB-C3B8-9A1B79EEAFEF}"/>
              </a:ext>
            </a:extLst>
          </p:cNvPr>
          <p:cNvSpPr/>
          <p:nvPr/>
        </p:nvSpPr>
        <p:spPr>
          <a:xfrm>
            <a:off x="495568" y="3477079"/>
            <a:ext cx="2380980" cy="95485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RL from clinician feedback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FE4CD26-84AA-5667-E7AA-814316C3B612}"/>
              </a:ext>
            </a:extLst>
          </p:cNvPr>
          <p:cNvSpPr/>
          <p:nvPr/>
        </p:nvSpPr>
        <p:spPr>
          <a:xfrm>
            <a:off x="507422" y="4523970"/>
            <a:ext cx="2380980" cy="95485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Designing verifiable rewards for clinical AI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0D58E0D-954A-2D9C-3FDE-2180F024D1AA}"/>
              </a:ext>
            </a:extLst>
          </p:cNvPr>
          <p:cNvSpPr/>
          <p:nvPr/>
        </p:nvSpPr>
        <p:spPr>
          <a:xfrm>
            <a:off x="507422" y="5570861"/>
            <a:ext cx="2380980" cy="95485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rgbClr val="7030A0">
                  <a:alpha val="13923"/>
                </a:srgb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Test-time clinical reasoning</a:t>
            </a:r>
          </a:p>
        </p:txBody>
      </p:sp>
    </p:spTree>
    <p:extLst>
      <p:ext uri="{BB962C8B-B14F-4D97-AF65-F5344CB8AC3E}">
        <p14:creationId xmlns:p14="http://schemas.microsoft.com/office/powerpoint/2010/main" val="950962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15298-DBA6-D24E-D3CC-F92D66CD3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BD9E83-069F-B805-0792-F51AF5639DE0}"/>
              </a:ext>
            </a:extLst>
          </p:cNvPr>
          <p:cNvSpPr/>
          <p:nvPr/>
        </p:nvSpPr>
        <p:spPr>
          <a:xfrm>
            <a:off x="3008175" y="304195"/>
            <a:ext cx="6175650" cy="538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Benchmarks and Evaluations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D8491D-1169-2B06-CB97-2169DB253BB4}"/>
              </a:ext>
            </a:extLst>
          </p:cNvPr>
          <p:cNvSpPr/>
          <p:nvPr/>
        </p:nvSpPr>
        <p:spPr>
          <a:xfrm>
            <a:off x="554182" y="994410"/>
            <a:ext cx="11083636" cy="1520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Over the past few years, generative AI models have been widely deployed across health systems to perform a range of tasks, from clinical documentation to evidence synthesis and decision support. Yet these models perform fundamentally open-ended tasks that cannot be automatically verified, hence they require costly human evaluation for every new model and use case.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F9239C9-E506-4391-101C-3F2EBD2A6A9E}"/>
              </a:ext>
            </a:extLst>
          </p:cNvPr>
          <p:cNvSpPr/>
          <p:nvPr/>
        </p:nvSpPr>
        <p:spPr>
          <a:xfrm>
            <a:off x="1229437" y="2788920"/>
            <a:ext cx="2571750" cy="250317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chemeClr val="accent5">
                  <a:lumMod val="40000"/>
                  <a:lumOff val="60000"/>
                  <a:alpha val="47000"/>
                </a:scheme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8823B36-FBCB-972F-BB53-988CD6778076}"/>
              </a:ext>
            </a:extLst>
          </p:cNvPr>
          <p:cNvSpPr/>
          <p:nvPr/>
        </p:nvSpPr>
        <p:spPr>
          <a:xfrm>
            <a:off x="4712284" y="2788920"/>
            <a:ext cx="2571750" cy="250317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chemeClr val="accent5">
                  <a:lumMod val="40000"/>
                  <a:lumOff val="60000"/>
                  <a:alpha val="47000"/>
                </a:scheme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A24B47-2C62-21AA-F915-E74B9A72C08E}"/>
              </a:ext>
            </a:extLst>
          </p:cNvPr>
          <p:cNvSpPr/>
          <p:nvPr/>
        </p:nvSpPr>
        <p:spPr>
          <a:xfrm>
            <a:off x="1310772" y="3450926"/>
            <a:ext cx="2333660" cy="1213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Benchmark datasets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B41915-7F34-CFC6-D6C0-D99898B4D702}"/>
              </a:ext>
            </a:extLst>
          </p:cNvPr>
          <p:cNvSpPr/>
          <p:nvPr/>
        </p:nvSpPr>
        <p:spPr>
          <a:xfrm>
            <a:off x="5033836" y="3323529"/>
            <a:ext cx="1928645" cy="14680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Clinician-in-the-loop evaluations</a:t>
            </a:r>
          </a:p>
        </p:txBody>
      </p:sp>
      <p:pic>
        <p:nvPicPr>
          <p:cNvPr id="12" name="Picture 11" descr="A bear with a heartbeat line&#10;&#10;AI-generated content may be incorrect.">
            <a:extLst>
              <a:ext uri="{FF2B5EF4-FFF2-40B4-BE49-F238E27FC236}">
                <a16:creationId xmlns:a16="http://schemas.microsoft.com/office/drawing/2014/main" id="{B420040B-1957-DEE1-655C-B4CEF81B6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6" t="14001" r="4738" b="13999"/>
          <a:stretch>
            <a:fillRect/>
          </a:stretch>
        </p:blipFill>
        <p:spPr>
          <a:xfrm>
            <a:off x="494305" y="5590805"/>
            <a:ext cx="1317291" cy="10323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C75D6EB-EC93-B122-16A4-85C99DFFB81B}"/>
              </a:ext>
            </a:extLst>
          </p:cNvPr>
          <p:cNvSpPr/>
          <p:nvPr/>
        </p:nvSpPr>
        <p:spPr>
          <a:xfrm>
            <a:off x="352697" y="5292090"/>
            <a:ext cx="1645920" cy="1331025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18D132C-5E9A-DEAF-E37F-826F034DCE91}"/>
              </a:ext>
            </a:extLst>
          </p:cNvPr>
          <p:cNvSpPr/>
          <p:nvPr/>
        </p:nvSpPr>
        <p:spPr>
          <a:xfrm>
            <a:off x="8195132" y="2788920"/>
            <a:ext cx="2571750" cy="250317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chemeClr val="accent5">
                  <a:lumMod val="40000"/>
                  <a:lumOff val="60000"/>
                  <a:alpha val="47000"/>
                </a:scheme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33F8F9-8CB5-1F29-512B-813FAFCC6C26}"/>
              </a:ext>
            </a:extLst>
          </p:cNvPr>
          <p:cNvSpPr/>
          <p:nvPr/>
        </p:nvSpPr>
        <p:spPr>
          <a:xfrm>
            <a:off x="8515207" y="3152311"/>
            <a:ext cx="1928645" cy="17763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Impact of AI on medical coding and billing</a:t>
            </a:r>
          </a:p>
        </p:txBody>
      </p:sp>
    </p:spTree>
    <p:extLst>
      <p:ext uri="{BB962C8B-B14F-4D97-AF65-F5344CB8AC3E}">
        <p14:creationId xmlns:p14="http://schemas.microsoft.com/office/powerpoint/2010/main" val="1886956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CA3D2-2990-370B-F6D8-59875A8ED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337D6D-E195-602A-A0D4-5A2AE20EA30B}"/>
              </a:ext>
            </a:extLst>
          </p:cNvPr>
          <p:cNvSpPr/>
          <p:nvPr/>
        </p:nvSpPr>
        <p:spPr>
          <a:xfrm>
            <a:off x="3008175" y="304195"/>
            <a:ext cx="6175650" cy="538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Scalability and Validity of Automatic Evals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3F51D6-81ED-C852-31D4-BADD59C91535}"/>
              </a:ext>
            </a:extLst>
          </p:cNvPr>
          <p:cNvSpPr/>
          <p:nvPr/>
        </p:nvSpPr>
        <p:spPr>
          <a:xfrm>
            <a:off x="554182" y="994410"/>
            <a:ext cx="11083636" cy="1520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Over the past few years, generative AI models have been widely deployed across health systems to perform a range of tasks, from clinical documentation to evidence synthesis and decision support. Yet these models perform fundamentally open-ended tasks that cannot be automatically verified, hence they require costly human evaluation for every new model and use case.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FAC2C19-0549-59F2-7193-A0226E472CB6}"/>
              </a:ext>
            </a:extLst>
          </p:cNvPr>
          <p:cNvSpPr/>
          <p:nvPr/>
        </p:nvSpPr>
        <p:spPr>
          <a:xfrm>
            <a:off x="1067886" y="2788920"/>
            <a:ext cx="2571750" cy="250317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chemeClr val="accent5">
                  <a:lumMod val="40000"/>
                  <a:lumOff val="60000"/>
                  <a:alpha val="47000"/>
                </a:scheme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7D3E6C6-35A4-5B03-0942-3E44587EDC38}"/>
              </a:ext>
            </a:extLst>
          </p:cNvPr>
          <p:cNvSpPr/>
          <p:nvPr/>
        </p:nvSpPr>
        <p:spPr>
          <a:xfrm>
            <a:off x="4773383" y="2788920"/>
            <a:ext cx="2571750" cy="250317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chemeClr val="accent5">
                  <a:lumMod val="40000"/>
                  <a:lumOff val="60000"/>
                  <a:alpha val="47000"/>
                </a:scheme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D81D84-87DB-95F9-9E81-DEA0D39125D0}"/>
              </a:ext>
            </a:extLst>
          </p:cNvPr>
          <p:cNvSpPr/>
          <p:nvPr/>
        </p:nvSpPr>
        <p:spPr>
          <a:xfrm>
            <a:off x="8478880" y="2788920"/>
            <a:ext cx="2571750" cy="250317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chemeClr val="accent5">
                  <a:lumMod val="40000"/>
                  <a:lumOff val="60000"/>
                  <a:alpha val="47000"/>
                </a:scheme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EF99F2-E5D4-6434-C7FD-B384F4365C3D}"/>
              </a:ext>
            </a:extLst>
          </p:cNvPr>
          <p:cNvSpPr/>
          <p:nvPr/>
        </p:nvSpPr>
        <p:spPr>
          <a:xfrm>
            <a:off x="1281423" y="3543149"/>
            <a:ext cx="2121509" cy="1002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Measurement validity of benchmarks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B501F2-EDD9-21E2-5B9E-79F6C5CC20A1}"/>
              </a:ext>
            </a:extLst>
          </p:cNvPr>
          <p:cNvSpPr/>
          <p:nvPr/>
        </p:nvSpPr>
        <p:spPr>
          <a:xfrm>
            <a:off x="5093458" y="3319524"/>
            <a:ext cx="1928645" cy="14680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Statistical validity of LLM as judge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C0793B-54FF-AC42-5D5E-52E95A0CE693}"/>
              </a:ext>
            </a:extLst>
          </p:cNvPr>
          <p:cNvSpPr/>
          <p:nvPr/>
        </p:nvSpPr>
        <p:spPr>
          <a:xfrm>
            <a:off x="8597925" y="3391563"/>
            <a:ext cx="2333661" cy="1334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Monitorability and scalable oversight </a:t>
            </a:r>
          </a:p>
        </p:txBody>
      </p:sp>
      <p:pic>
        <p:nvPicPr>
          <p:cNvPr id="10" name="Picture 9" descr="A bear with a heartbeat line&#10;&#10;AI-generated content may be incorrect.">
            <a:extLst>
              <a:ext uri="{FF2B5EF4-FFF2-40B4-BE49-F238E27FC236}">
                <a16:creationId xmlns:a16="http://schemas.microsoft.com/office/drawing/2014/main" id="{46E139E7-518F-6E18-C784-007C13AE7F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6" t="14001" r="4738" b="13999"/>
          <a:stretch>
            <a:fillRect/>
          </a:stretch>
        </p:blipFill>
        <p:spPr>
          <a:xfrm>
            <a:off x="494305" y="5590805"/>
            <a:ext cx="1317291" cy="10323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D1AE61B-69B4-30E0-02F2-412F99E16AB2}"/>
              </a:ext>
            </a:extLst>
          </p:cNvPr>
          <p:cNvSpPr/>
          <p:nvPr/>
        </p:nvSpPr>
        <p:spPr>
          <a:xfrm>
            <a:off x="352697" y="5292090"/>
            <a:ext cx="1645920" cy="1331025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298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A07859-F0B9-B2AD-85C4-3A1720730A08}"/>
              </a:ext>
            </a:extLst>
          </p:cNvPr>
          <p:cNvSpPr/>
          <p:nvPr/>
        </p:nvSpPr>
        <p:spPr>
          <a:xfrm>
            <a:off x="3544079" y="304195"/>
            <a:ext cx="5103843" cy="538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Post-training and Test-time Methods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142D68-CE02-62F6-C332-3FFBFAFAE46E}"/>
              </a:ext>
            </a:extLst>
          </p:cNvPr>
          <p:cNvSpPr/>
          <p:nvPr/>
        </p:nvSpPr>
        <p:spPr>
          <a:xfrm>
            <a:off x="554182" y="994410"/>
            <a:ext cx="11083636" cy="1520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Over the past few years, generative AI models have been widely deployed across health systems to perform a range of tasks, from clinical documentation to evidence synthesis and decision support. Yet these models perform fundamentally open-ended tasks that cannot be automatically verified, hence they require costly human evaluation for every new model and use case.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196D485-C036-788F-3A7A-E52114FC4FC9}"/>
              </a:ext>
            </a:extLst>
          </p:cNvPr>
          <p:cNvSpPr/>
          <p:nvPr/>
        </p:nvSpPr>
        <p:spPr>
          <a:xfrm>
            <a:off x="1067886" y="2788920"/>
            <a:ext cx="2571750" cy="250317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chemeClr val="accent5">
                  <a:lumMod val="40000"/>
                  <a:lumOff val="60000"/>
                  <a:alpha val="47000"/>
                </a:scheme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4EFC4EA-B5C8-28CD-7FDD-7F45E04A94A2}"/>
              </a:ext>
            </a:extLst>
          </p:cNvPr>
          <p:cNvSpPr/>
          <p:nvPr/>
        </p:nvSpPr>
        <p:spPr>
          <a:xfrm>
            <a:off x="4773383" y="2788920"/>
            <a:ext cx="2571750" cy="250317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chemeClr val="accent5">
                  <a:lumMod val="40000"/>
                  <a:lumOff val="60000"/>
                  <a:alpha val="47000"/>
                </a:scheme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2A3E293-4F76-D9AA-7B25-0EAAE3B91E9E}"/>
              </a:ext>
            </a:extLst>
          </p:cNvPr>
          <p:cNvSpPr/>
          <p:nvPr/>
        </p:nvSpPr>
        <p:spPr>
          <a:xfrm>
            <a:off x="8478880" y="2788920"/>
            <a:ext cx="2571750" cy="250317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bg1"/>
              </a:gs>
              <a:gs pos="100000">
                <a:schemeClr val="accent5">
                  <a:lumMod val="40000"/>
                  <a:lumOff val="60000"/>
                  <a:alpha val="47000"/>
                </a:schemeClr>
              </a:gs>
            </a:gsLst>
            <a:lin ang="2700000" scaled="1"/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D7C473-DB29-0F85-28A7-2CA21C6E4D70}"/>
              </a:ext>
            </a:extLst>
          </p:cNvPr>
          <p:cNvSpPr/>
          <p:nvPr/>
        </p:nvSpPr>
        <p:spPr>
          <a:xfrm>
            <a:off x="1281423" y="3543149"/>
            <a:ext cx="2121509" cy="1002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Verifiable rewards for clinical AI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227849-8DDC-2C63-A1C9-2EC9C08C40DD}"/>
              </a:ext>
            </a:extLst>
          </p:cNvPr>
          <p:cNvSpPr/>
          <p:nvPr/>
        </p:nvSpPr>
        <p:spPr>
          <a:xfrm>
            <a:off x="5093458" y="3319524"/>
            <a:ext cx="1928645" cy="14680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RL from clinician feedback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169940-7709-2886-1698-1967D16466FB}"/>
              </a:ext>
            </a:extLst>
          </p:cNvPr>
          <p:cNvSpPr/>
          <p:nvPr/>
        </p:nvSpPr>
        <p:spPr>
          <a:xfrm>
            <a:off x="8597925" y="3391563"/>
            <a:ext cx="2333661" cy="13346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Test time clinical reasoning</a:t>
            </a:r>
          </a:p>
        </p:txBody>
      </p:sp>
      <p:pic>
        <p:nvPicPr>
          <p:cNvPr id="12" name="Picture 11" descr="A bear with a heartbeat line&#10;&#10;AI-generated content may be incorrect.">
            <a:extLst>
              <a:ext uri="{FF2B5EF4-FFF2-40B4-BE49-F238E27FC236}">
                <a16:creationId xmlns:a16="http://schemas.microsoft.com/office/drawing/2014/main" id="{995CEED4-9880-E675-DACF-CCD86AA998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86" t="14001" r="4738" b="13999"/>
          <a:stretch>
            <a:fillRect/>
          </a:stretch>
        </p:blipFill>
        <p:spPr>
          <a:xfrm>
            <a:off x="494305" y="5590805"/>
            <a:ext cx="1317291" cy="103231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F876892-CD05-D714-DA2A-BF08BE8D61B0}"/>
              </a:ext>
            </a:extLst>
          </p:cNvPr>
          <p:cNvSpPr/>
          <p:nvPr/>
        </p:nvSpPr>
        <p:spPr>
          <a:xfrm>
            <a:off x="352697" y="5292090"/>
            <a:ext cx="1645920" cy="1331025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63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6E29D-8A41-2563-C497-E53B942DE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7B13A9-7D9C-1E17-7B21-A72878730461}"/>
              </a:ext>
            </a:extLst>
          </p:cNvPr>
          <p:cNvSpPr/>
          <p:nvPr/>
        </p:nvSpPr>
        <p:spPr>
          <a:xfrm>
            <a:off x="3986974" y="304195"/>
            <a:ext cx="4218052" cy="538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Causal AI and World Models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E05A3D-9A60-88A8-72C1-E4C512828629}"/>
              </a:ext>
            </a:extLst>
          </p:cNvPr>
          <p:cNvSpPr/>
          <p:nvPr/>
        </p:nvSpPr>
        <p:spPr>
          <a:xfrm>
            <a:off x="554182" y="1074420"/>
            <a:ext cx="11083636" cy="13373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AI surrogates and endpoints – Digital Twins – World Models </a:t>
            </a:r>
          </a:p>
        </p:txBody>
      </p:sp>
    </p:spTree>
    <p:extLst>
      <p:ext uri="{BB962C8B-B14F-4D97-AF65-F5344CB8AC3E}">
        <p14:creationId xmlns:p14="http://schemas.microsoft.com/office/powerpoint/2010/main" val="3590690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2105</TotalTime>
  <Words>430</Words>
  <Application>Microsoft Macintosh PowerPoint</Application>
  <PresentationFormat>Widescreen</PresentationFormat>
  <Paragraphs>63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Alaa</dc:creator>
  <cp:lastModifiedBy>Ahmed Alaa</cp:lastModifiedBy>
  <cp:revision>39</cp:revision>
  <dcterms:created xsi:type="dcterms:W3CDTF">2026-06-25T10:54:45Z</dcterms:created>
  <dcterms:modified xsi:type="dcterms:W3CDTF">2026-06-28T14:25:28Z</dcterms:modified>
</cp:coreProperties>
</file>